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5" r:id="rId1"/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 type="wide"/>
  <p:notesSz cx="6858000" cy="9144000"/>
  <p:defaultTextStyle>
    <a:defPPr>
      <a:defRPr lang="en-US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1" Type="http://schemas.openxmlformats.org/officeDocument/2006/relationships/slide" Target="slides/slide0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>
      <p:nvSpPr>
        <p:cNvPr id="2" name="Shape 2"/>
        <p:cNvSpPr/>
        <p:nvPr/>
      </p:nvSpPr>
      <p:spPr>
        <a:xfrm>
          <a:off x="0" y="0"/>
          <a:ext cx="12191695" cy="6858000"/>
        </a:xfrm>
        <a:prstGeom prst="rect">
          <a:avLst/>
        </a:prstGeom>
        <a:solidFill>
          <a:srgbClr val="0A1929"/>
        </a:solidFill>
        <a:ln>
          <a:noFill/>
        </a:ln>
      </p:spPr>
    </p:sp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2A5F5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7909560" y="274320"/>
            <a:ext cx="3749040" cy="3749040"/>
          </a:xfrm>
          <a:prstGeom prst="roundRect">
            <a:avLst/>
          </a:prstGeom>
          <a:solidFill>
            <a:srgbClr val="122B45"/>
          </a:solidFill>
          <a:ln>
            <a:noFill/>
          </a:ln>
        </p:spPr>
      </p:sp>
      <p:sp>
        <p:nvSpPr>
          <p:cNvPr id="5" name="Shape 5"/>
          <p:cNvSpPr/>
          <p:nvPr/>
        </p:nvSpPr>
        <p:spPr>
          <a:xfrm>
            <a:off x="8549640" y="914400"/>
            <a:ext cx="2468880" cy="246888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6" name="Shape 6"/>
          <p:cNvSpPr/>
          <p:nvPr/>
        </p:nvSpPr>
        <p:spPr>
          <a:xfrm>
            <a:off x="9171432" y="1536192"/>
            <a:ext cx="1225296" cy="1225296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749808" y="65836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100" b="1" i="0">
                <a:solidFill>
                  <a:srgbClr val="42A5F5"/>
                </a:solidFill>
                <a:latin typeface="Aptos"/>
              </a:rPr>
              <a:t>SAP AMS  /  KNOWLEDGE PLATFORM</a:t>
            </a:r>
            <a:endParaRPr lang="en-US" sz="1100"/>
          </a:p>
        </p:txBody>
      </p:sp>
      <p:sp>
        <p:nvSpPr>
          <p:cNvPr id="8" name="Text 8"/>
          <p:cNvSpPr txBox="1"/>
          <p:nvPr/>
        </p:nvSpPr>
        <p:spPr>
          <a:xfrm>
            <a:off x="749808" y="1481328"/>
            <a:ext cx="685800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lang="en-US" sz="3400" b="1" i="0">
                <a:solidFill>
                  <a:srgbClr val="FFFFFF"/>
                </a:solidFill>
                <a:latin typeface="Aptos"/>
              </a:rPr>
              <a:t>One workspace.
Connected expertise.</a:t>
            </a:r>
            <a:endParaRPr lang="en-US" sz="3400"/>
          </a:p>
        </p:txBody>
      </p:sp>
      <p:sp>
        <p:nvSpPr>
          <p:cNvPr id="9" name="Text 9"/>
          <p:cNvSpPr txBox="1"/>
          <p:nvPr/>
        </p:nvSpPr>
        <p:spPr>
          <a:xfrm>
            <a:off x="786384" y="3081528"/>
            <a:ext cx="612648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>
            <a:normAutofit/>
          </a:bodyPr>
          <a:lstStyle/>
          <a:p>
            <a:pPr algn="l"/>
            <a:r>
              <a:rPr lang="en-US" sz="1700" b="0" i="0">
                <a:solidFill>
                  <a:srgbClr val="D7E6F5"/>
                </a:solidFill>
                <a:latin typeface="Aptos"/>
              </a:rPr>
              <a:t>A product overview of knowledge sharing, support, transitions and AI-assisted tools.</a:t>
            </a:r>
            <a:endParaRPr lang="en-US" sz="1700"/>
          </a:p>
        </p:txBody>
      </p:sp>
      <p:sp>
        <p:nvSpPr>
          <p:cNvPr id="10" name="Shape 10"/>
          <p:cNvSpPr/>
          <p:nvPr/>
        </p:nvSpPr>
        <p:spPr>
          <a:xfrm>
            <a:off x="786384" y="4096512"/>
            <a:ext cx="1965960" cy="384048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896112" y="4114800"/>
            <a:ext cx="1755648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ctr"/>
            <a:r>
              <a:rPr lang="en-US" sz="900" b="1" i="0">
                <a:solidFill>
                  <a:srgbClr val="FFFFFF"/>
                </a:solidFill>
                <a:latin typeface="Aptos"/>
              </a:rPr>
              <a:t>APPLICATION OVERVIEW</a:t>
            </a:r>
            <a:endParaRPr lang="en-US" sz="900"/>
          </a:p>
        </p:txBody>
      </p:sp>
      <p:sp>
        <p:nvSpPr>
          <p:cNvPr id="12" name="Shape 12"/>
          <p:cNvSpPr/>
          <p:nvPr/>
        </p:nvSpPr>
        <p:spPr>
          <a:xfrm>
            <a:off x="7909560" y="3657600"/>
            <a:ext cx="3566160" cy="438912"/>
          </a:xfrm>
          <a:prstGeom prst="roundRect">
            <a:avLst/>
          </a:prstGeom>
          <a:solidFill>
            <a:srgbClr val="122B45"/>
          </a:solidFill>
          <a:ln w="12700">
            <a:solidFill>
              <a:srgbClr val="31506E"/>
            </a:solidFill>
          </a:ln>
        </p:spPr>
      </p:sp>
      <p:sp>
        <p:nvSpPr>
          <p:cNvPr id="13" name="Shape 13"/>
          <p:cNvSpPr/>
          <p:nvPr/>
        </p:nvSpPr>
        <p:spPr>
          <a:xfrm>
            <a:off x="8074152" y="3776472"/>
            <a:ext cx="173736" cy="173736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8385048" y="3694176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200" b="1" i="0">
                <a:solidFill>
                  <a:srgbClr val="FFFFFF"/>
                </a:solidFill>
                <a:latin typeface="Aptos"/>
              </a:rPr>
              <a:t>KNOWLEDGE</a:t>
            </a:r>
            <a:endParaRPr lang="en-US" sz="1200"/>
          </a:p>
        </p:txBody>
      </p:sp>
      <p:sp>
        <p:nvSpPr>
          <p:cNvPr id="15" name="Shape 15"/>
          <p:cNvSpPr/>
          <p:nvPr/>
        </p:nvSpPr>
        <p:spPr>
          <a:xfrm>
            <a:off x="7909560" y="4242816"/>
            <a:ext cx="3566160" cy="438912"/>
          </a:xfrm>
          <a:prstGeom prst="roundRect">
            <a:avLst/>
          </a:prstGeom>
          <a:solidFill>
            <a:srgbClr val="122B45"/>
          </a:solidFill>
          <a:ln w="12700">
            <a:solidFill>
              <a:srgbClr val="31506E"/>
            </a:solidFill>
          </a:ln>
        </p:spPr>
      </p:sp>
      <p:sp>
        <p:nvSpPr>
          <p:cNvPr id="16" name="Shape 16"/>
          <p:cNvSpPr/>
          <p:nvPr/>
        </p:nvSpPr>
        <p:spPr>
          <a:xfrm>
            <a:off x="8074152" y="4361688"/>
            <a:ext cx="173736" cy="173736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8385048" y="427939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200" b="1" i="0">
                <a:solidFill>
                  <a:srgbClr val="FFFFFF"/>
                </a:solidFill>
                <a:latin typeface="Aptos"/>
              </a:rPr>
              <a:t>SUPPORT</a:t>
            </a:r>
            <a:endParaRPr lang="en-US" sz="1200"/>
          </a:p>
        </p:txBody>
      </p:sp>
      <p:sp>
        <p:nvSpPr>
          <p:cNvPr id="18" name="Shape 18"/>
          <p:cNvSpPr/>
          <p:nvPr/>
        </p:nvSpPr>
        <p:spPr>
          <a:xfrm>
            <a:off x="7909560" y="4828032"/>
            <a:ext cx="3566160" cy="438912"/>
          </a:xfrm>
          <a:prstGeom prst="roundRect">
            <a:avLst/>
          </a:prstGeom>
          <a:solidFill>
            <a:srgbClr val="122B45"/>
          </a:solidFill>
          <a:ln w="12700">
            <a:solidFill>
              <a:srgbClr val="31506E"/>
            </a:solidFill>
          </a:ln>
        </p:spPr>
      </p:sp>
      <p:sp>
        <p:nvSpPr>
          <p:cNvPr id="19" name="Shape 19"/>
          <p:cNvSpPr/>
          <p:nvPr/>
        </p:nvSpPr>
        <p:spPr>
          <a:xfrm>
            <a:off x="8074152" y="4946904"/>
            <a:ext cx="173736" cy="173736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8385048" y="4864608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200" b="1" i="0">
                <a:solidFill>
                  <a:srgbClr val="FFFFFF"/>
                </a:solidFill>
                <a:latin typeface="Aptos"/>
              </a:rPr>
              <a:t>TRANSITIONS</a:t>
            </a:r>
            <a:endParaRPr lang="en-US" sz="1200"/>
          </a:p>
        </p:txBody>
      </p:sp>
      <p:sp>
        <p:nvSpPr>
          <p:cNvPr id="21" name="Shape 21"/>
          <p:cNvSpPr/>
          <p:nvPr/>
        </p:nvSpPr>
        <p:spPr>
          <a:xfrm>
            <a:off x="7909560" y="5413248"/>
            <a:ext cx="3566160" cy="438912"/>
          </a:xfrm>
          <a:prstGeom prst="roundRect">
            <a:avLst/>
          </a:prstGeom>
          <a:solidFill>
            <a:srgbClr val="122B45"/>
          </a:solidFill>
          <a:ln w="12700">
            <a:solidFill>
              <a:srgbClr val="31506E"/>
            </a:solidFill>
          </a:ln>
        </p:spPr>
      </p:sp>
      <p:sp>
        <p:nvSpPr>
          <p:cNvPr id="22" name="Shape 22"/>
          <p:cNvSpPr/>
          <p:nvPr/>
        </p:nvSpPr>
        <p:spPr>
          <a:xfrm>
            <a:off x="8074152" y="5532120"/>
            <a:ext cx="173736" cy="173736"/>
          </a:xfrm>
          <a:prstGeom prst="roundRect">
            <a:avLst/>
          </a:prstGeom>
          <a:solidFill>
            <a:srgbClr val="6A4BC3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8385048" y="5449824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200" b="1" i="0">
                <a:solidFill>
                  <a:srgbClr val="FFFFFF"/>
                </a:solidFill>
                <a:latin typeface="Aptos"/>
              </a:rPr>
              <a:t>AI TOOLS</a:t>
            </a:r>
            <a:endParaRPr lang="en-US" sz="1200"/>
          </a:p>
        </p:txBody>
      </p:sp>
      <p:sp>
        <p:nvSpPr>
          <p:cNvPr id="24" name="Text 24"/>
          <p:cNvSpPr txBox="1"/>
          <p:nvPr/>
        </p:nvSpPr>
        <p:spPr>
          <a:xfrm>
            <a:off x="786384" y="6236208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900" b="0" i="0">
                <a:solidFill>
                  <a:srgbClr val="AFC4D8"/>
                </a:solidFill>
                <a:latin typeface="Aptos"/>
              </a:rPr>
              <a:t>Based on the application codebase ? October 2026</a:t>
            </a:r>
            <a:endParaRPr lang="en-US"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3504" y="292608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000" b="1" i="0">
                <a:solidFill>
                  <a:srgbClr val="1565C0"/>
                </a:solidFill>
                <a:latin typeface="Aptos"/>
              </a:rPr>
              <a:t>01  /  AT A GLANCE</a:t>
            </a:r>
            <a:endParaRPr lang="en-US" sz="1000"/>
          </a:p>
        </p:txBody>
      </p:sp>
      <p:sp>
        <p:nvSpPr>
          <p:cNvPr id="3" name="Text 3"/>
          <p:cNvSpPr txBox="1"/>
          <p:nvPr/>
        </p:nvSpPr>
        <p:spPr>
          <a:xfrm>
            <a:off x="603504" y="621792"/>
            <a:ext cx="10972800" cy="49377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2700" b="1" i="0">
                <a:solidFill>
                  <a:srgbClr val="0A1929"/>
                </a:solidFill>
                <a:latin typeface="Aptos"/>
              </a:rPr>
              <a:t>A connected workspace for AMS operations</a:t>
            </a:r>
            <a:endParaRPr lang="en-US" sz="2700"/>
          </a:p>
        </p:txBody>
      </p:sp>
      <p:sp>
        <p:nvSpPr>
          <p:cNvPr id="4" name="Text 4"/>
          <p:cNvSpPr txBox="1"/>
          <p:nvPr/>
        </p:nvSpPr>
        <p:spPr>
          <a:xfrm>
            <a:off x="603504" y="1170432"/>
            <a:ext cx="109728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400" b="0" i="0">
                <a:solidFill>
                  <a:srgbClr val="61758B"/>
                </a:solidFill>
                <a:latin typeface="Aptos"/>
              </a:rPr>
              <a:t>The app brings common knowledge, support and transition work into one authenticated web experience.</a:t>
            </a:r>
            <a:endParaRPr lang="en-US" sz="1400"/>
          </a:p>
        </p:txBody>
      </p:sp>
      <p:sp>
        <p:nvSpPr>
          <p:cNvPr id="5" name="Shape 5"/>
          <p:cNvSpPr/>
          <p:nvPr/>
        </p:nvSpPr>
        <p:spPr>
          <a:xfrm>
            <a:off x="603504" y="6473952"/>
            <a:ext cx="10972800" cy="10973"/>
          </a:xfrm>
          <a:prstGeom prst="rect">
            <a:avLst/>
          </a:prstGeom>
          <a:solidFill>
            <a:srgbClr val="DCE5EF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603504" y="6510528"/>
            <a:ext cx="9144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800" b="1" i="0">
                <a:solidFill>
                  <a:srgbClr val="61758B"/>
                </a:solidFill>
                <a:latin typeface="Aptos"/>
              </a:rPr>
              <a:t>SAP AMS  ?  PRODUCT OVERVIEW</a:t>
            </a:r>
            <a:endParaRPr lang="en-US" sz="800"/>
          </a:p>
        </p:txBody>
      </p:sp>
      <p:sp>
        <p:nvSpPr>
          <p:cNvPr id="7" name="Text 7"/>
          <p:cNvSpPr txBox="1"/>
          <p:nvPr/>
        </p:nvSpPr>
        <p:spPr>
          <a:xfrm>
            <a:off x="11064240" y="6492240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r"/>
            <a:r>
              <a:rPr lang="en-US" sz="900" b="1" i="0">
                <a:solidFill>
                  <a:srgbClr val="61758B"/>
                </a:solidFill>
                <a:latin typeface="Aptos"/>
              </a:rPr>
              <a:t>02</a:t>
            </a:r>
            <a:endParaRPr lang="en-US" sz="900"/>
          </a:p>
        </p:txBody>
      </p:sp>
      <p:sp>
        <p:nvSpPr>
          <p:cNvPr id="8" name="Shape 8"/>
          <p:cNvSpPr/>
          <p:nvPr/>
        </p:nvSpPr>
        <p:spPr>
          <a:xfrm>
            <a:off x="658368" y="1874520"/>
            <a:ext cx="2633472" cy="1856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</a:ln>
        </p:spPr>
      </p:sp>
      <p:sp>
        <p:nvSpPr>
          <p:cNvPr id="9" name="Shape 9"/>
          <p:cNvSpPr/>
          <p:nvPr/>
        </p:nvSpPr>
        <p:spPr>
          <a:xfrm>
            <a:off x="658368" y="1874520"/>
            <a:ext cx="64008" cy="1856232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859536" y="2029968"/>
            <a:ext cx="2249424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700" b="1" i="0">
                <a:solidFill>
                  <a:srgbClr val="0A1929"/>
                </a:solidFill>
                <a:latin typeface="Aptos"/>
              </a:rPr>
              <a:t>KNOWLEDGE</a:t>
            </a:r>
            <a:endParaRPr lang="en-US" sz="1700"/>
          </a:p>
        </p:txBody>
      </p:sp>
      <p:sp>
        <p:nvSpPr>
          <p:cNvPr id="11" name="Text 11"/>
          <p:cNvSpPr txBox="1"/>
          <p:nvPr/>
        </p:nvSpPr>
        <p:spPr>
          <a:xfrm>
            <a:off x="859536" y="2496312"/>
            <a:ext cx="2249424" cy="109728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lang="en-US" sz="1400" b="0" i="0">
                <a:solidFill>
                  <a:srgbClr val="61758B"/>
                </a:solidFill>
                <a:latin typeface="Aptos"/>
              </a:rPr>
              <a:t>Create, review, publish and find operational articles.</a:t>
            </a:r>
            <a:endParaRPr lang="en-US" sz="1400"/>
          </a:p>
        </p:txBody>
      </p:sp>
      <p:sp>
        <p:nvSpPr>
          <p:cNvPr id="12" name="Shape 12"/>
          <p:cNvSpPr/>
          <p:nvPr/>
        </p:nvSpPr>
        <p:spPr>
          <a:xfrm>
            <a:off x="3520440" y="1874520"/>
            <a:ext cx="2633472" cy="1856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</a:ln>
        </p:spPr>
      </p:sp>
      <p:sp>
        <p:nvSpPr>
          <p:cNvPr id="13" name="Shape 13"/>
          <p:cNvSpPr/>
          <p:nvPr/>
        </p:nvSpPr>
        <p:spPr>
          <a:xfrm>
            <a:off x="3520440" y="1874520"/>
            <a:ext cx="64008" cy="185623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3721608" y="2029968"/>
            <a:ext cx="2249424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700" b="1" i="0">
                <a:solidFill>
                  <a:srgbClr val="0A1929"/>
                </a:solidFill>
                <a:latin typeface="Aptos"/>
              </a:rPr>
              <a:t>SUPPORT</a:t>
            </a:r>
            <a:endParaRPr lang="en-US" sz="1700"/>
          </a:p>
        </p:txBody>
      </p:sp>
      <p:sp>
        <p:nvSpPr>
          <p:cNvPr id="15" name="Text 15"/>
          <p:cNvSpPr txBox="1"/>
          <p:nvPr/>
        </p:nvSpPr>
        <p:spPr>
          <a:xfrm>
            <a:off x="3721608" y="2496312"/>
            <a:ext cx="2249424" cy="109728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lang="en-US" sz="1400" b="0" i="0">
                <a:solidFill>
                  <a:srgbClr val="61758B"/>
                </a:solidFill>
                <a:latin typeface="Aptos"/>
              </a:rPr>
              <a:t>Manage requests, expert help and team communication.</a:t>
            </a:r>
            <a:endParaRPr lang="en-US" sz="1400"/>
          </a:p>
        </p:txBody>
      </p:sp>
      <p:sp>
        <p:nvSpPr>
          <p:cNvPr id="16" name="Shape 16"/>
          <p:cNvSpPr/>
          <p:nvPr/>
        </p:nvSpPr>
        <p:spPr>
          <a:xfrm>
            <a:off x="6382512" y="1874520"/>
            <a:ext cx="2633472" cy="1856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</a:ln>
        </p:spPr>
      </p:sp>
      <p:sp>
        <p:nvSpPr>
          <p:cNvPr id="17" name="Shape 17"/>
          <p:cNvSpPr/>
          <p:nvPr/>
        </p:nvSpPr>
        <p:spPr>
          <a:xfrm>
            <a:off x="6382512" y="1874520"/>
            <a:ext cx="64008" cy="1856232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6583680" y="2029968"/>
            <a:ext cx="2249424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700" b="1" i="0">
                <a:solidFill>
                  <a:srgbClr val="0A1929"/>
                </a:solidFill>
                <a:latin typeface="Aptos"/>
              </a:rPr>
              <a:t>TRANSITIONS</a:t>
            </a:r>
            <a:endParaRPr lang="en-US" sz="1700"/>
          </a:p>
        </p:txBody>
      </p:sp>
      <p:sp>
        <p:nvSpPr>
          <p:cNvPr id="19" name="Text 19"/>
          <p:cNvSpPr txBox="1"/>
          <p:nvPr/>
        </p:nvSpPr>
        <p:spPr>
          <a:xfrm>
            <a:off x="6583680" y="2496312"/>
            <a:ext cx="2249424" cy="109728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lang="en-US" sz="1400" b="0" i="0">
                <a:solidFill>
                  <a:srgbClr val="61758B"/>
                </a:solidFill>
                <a:latin typeface="Aptos"/>
              </a:rPr>
              <a:t>Coordinate readiness, certifications and key contacts.</a:t>
            </a:r>
            <a:endParaRPr lang="en-US" sz="1400"/>
          </a:p>
        </p:txBody>
      </p:sp>
      <p:sp>
        <p:nvSpPr>
          <p:cNvPr id="20" name="Shape 20"/>
          <p:cNvSpPr/>
          <p:nvPr/>
        </p:nvSpPr>
        <p:spPr>
          <a:xfrm>
            <a:off x="9244584" y="1874520"/>
            <a:ext cx="2633472" cy="1856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</a:ln>
        </p:spPr>
      </p:sp>
      <p:sp>
        <p:nvSpPr>
          <p:cNvPr id="21" name="Shape 21"/>
          <p:cNvSpPr/>
          <p:nvPr/>
        </p:nvSpPr>
        <p:spPr>
          <a:xfrm>
            <a:off x="9244584" y="1874520"/>
            <a:ext cx="64008" cy="1856232"/>
          </a:xfrm>
          <a:prstGeom prst="roundRect">
            <a:avLst/>
          </a:prstGeom>
          <a:solidFill>
            <a:srgbClr val="6A4BC3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9445752" y="2029968"/>
            <a:ext cx="2249424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700" b="1" i="0">
                <a:solidFill>
                  <a:srgbClr val="0A1929"/>
                </a:solidFill>
                <a:latin typeface="Aptos"/>
              </a:rPr>
              <a:t>AI-ASSISTED WORK</a:t>
            </a:r>
            <a:endParaRPr lang="en-US" sz="1700"/>
          </a:p>
        </p:txBody>
      </p:sp>
      <p:sp>
        <p:nvSpPr>
          <p:cNvPr id="23" name="Text 23"/>
          <p:cNvSpPr txBox="1"/>
          <p:nvPr/>
        </p:nvSpPr>
        <p:spPr>
          <a:xfrm>
            <a:off x="9445752" y="2496312"/>
            <a:ext cx="2249424" cy="109728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lang="en-US" sz="1400" b="0" i="0">
                <a:solidFill>
                  <a:srgbClr val="61758B"/>
                </a:solidFill>
                <a:latin typeface="Aptos"/>
              </a:rPr>
              <a:t>Search, chat and compare resumes to role requirements.</a:t>
            </a:r>
            <a:endParaRPr lang="en-US" sz="1400"/>
          </a:p>
        </p:txBody>
      </p:sp>
      <p:sp>
        <p:nvSpPr>
          <p:cNvPr id="24" name="Shape 24"/>
          <p:cNvSpPr/>
          <p:nvPr/>
        </p:nvSpPr>
        <p:spPr>
          <a:xfrm>
            <a:off x="658368" y="4160520"/>
            <a:ext cx="10954512" cy="1234440"/>
          </a:xfrm>
          <a:prstGeom prst="roundRect">
            <a:avLst/>
          </a:prstGeom>
          <a:solidFill>
            <a:srgbClr val="0A1929"/>
          </a:solidFill>
          <a:ln>
            <a:noFill/>
          </a:ln>
        </p:spPr>
      </p:sp>
      <p:sp>
        <p:nvSpPr>
          <p:cNvPr id="25" name="Text 25"/>
          <p:cNvSpPr txBox="1"/>
          <p:nvPr/>
        </p:nvSpPr>
        <p:spPr>
          <a:xfrm>
            <a:off x="914400" y="4379976"/>
            <a:ext cx="10424160" cy="6766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ctr"/>
            <a:r>
              <a:rPr lang="en-US" sz="1900" b="1" i="0">
                <a:solidFill>
                  <a:srgbClr val="FFFFFF"/>
                </a:solidFill>
                <a:latin typeface="Aptos"/>
              </a:rPr>
              <a:t>A shared platform surface connects day-to-day operations with reusable knowledge and AI-assisted analysis.</a:t>
            </a:r>
            <a:endParaRPr lang="en-US" sz="1900"/>
          </a:p>
        </p:txBody>
      </p:sp>
      <p:sp>
        <p:nvSpPr>
          <p:cNvPr id="26" name="Text 26"/>
          <p:cNvSpPr txBox="1"/>
          <p:nvPr/>
        </p:nvSpPr>
        <p:spPr>
          <a:xfrm>
            <a:off x="749808" y="5742432"/>
            <a:ext cx="100584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100" b="0" i="0">
                <a:solidFill>
                  <a:srgbClr val="61758B"/>
                </a:solidFill>
                <a:latin typeface="Aptos"/>
              </a:rPr>
              <a:t>The feature set is visible across the client navigation and server API routes.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3504" y="292608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000" b="1" i="0">
                <a:solidFill>
                  <a:srgbClr val="1565C0"/>
                </a:solidFill>
                <a:latin typeface="Aptos"/>
              </a:rPr>
              <a:t>02  /  CAPABILITY MAP</a:t>
            </a:r>
            <a:endParaRPr lang="en-US" sz="1000"/>
          </a:p>
        </p:txBody>
      </p:sp>
      <p:sp>
        <p:nvSpPr>
          <p:cNvPr id="3" name="Text 3"/>
          <p:cNvSpPr txBox="1"/>
          <p:nvPr/>
        </p:nvSpPr>
        <p:spPr>
          <a:xfrm>
            <a:off x="603504" y="621792"/>
            <a:ext cx="10972800" cy="49377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2700" b="1" i="0">
                <a:solidFill>
                  <a:srgbClr val="0A1929"/>
                </a:solidFill>
                <a:latin typeface="Aptos"/>
              </a:rPr>
              <a:t>Five connected capability areas</a:t>
            </a:r>
            <a:endParaRPr lang="en-US" sz="2700"/>
          </a:p>
        </p:txBody>
      </p:sp>
      <p:sp>
        <p:nvSpPr>
          <p:cNvPr id="4" name="Text 4"/>
          <p:cNvSpPr txBox="1"/>
          <p:nvPr/>
        </p:nvSpPr>
        <p:spPr>
          <a:xfrm>
            <a:off x="603504" y="1170432"/>
            <a:ext cx="109728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400" b="0" i="0">
                <a:solidFill>
                  <a:srgbClr val="61758B"/>
                </a:solidFill>
                <a:latin typeface="Aptos"/>
              </a:rPr>
              <a:t>A quick guide to the main destinations available in the app.</a:t>
            </a:r>
            <a:endParaRPr lang="en-US" sz="1400"/>
          </a:p>
        </p:txBody>
      </p:sp>
      <p:sp>
        <p:nvSpPr>
          <p:cNvPr id="5" name="Shape 5"/>
          <p:cNvSpPr/>
          <p:nvPr/>
        </p:nvSpPr>
        <p:spPr>
          <a:xfrm>
            <a:off x="603504" y="6473952"/>
            <a:ext cx="10972800" cy="10973"/>
          </a:xfrm>
          <a:prstGeom prst="rect">
            <a:avLst/>
          </a:prstGeom>
          <a:solidFill>
            <a:srgbClr val="DCE5EF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603504" y="6510528"/>
            <a:ext cx="9144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800" b="1" i="0">
                <a:solidFill>
                  <a:srgbClr val="61758B"/>
                </a:solidFill>
                <a:latin typeface="Aptos"/>
              </a:rPr>
              <a:t>SAP AMS  ?  PRODUCT OVERVIEW</a:t>
            </a:r>
            <a:endParaRPr lang="en-US" sz="800"/>
          </a:p>
        </p:txBody>
      </p:sp>
      <p:sp>
        <p:nvSpPr>
          <p:cNvPr id="7" name="Text 7"/>
          <p:cNvSpPr txBox="1"/>
          <p:nvPr/>
        </p:nvSpPr>
        <p:spPr>
          <a:xfrm>
            <a:off x="11064240" y="6492240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r"/>
            <a:r>
              <a:rPr lang="en-US" sz="900" b="1" i="0">
                <a:solidFill>
                  <a:srgbClr val="61758B"/>
                </a:solidFill>
                <a:latin typeface="Aptos"/>
              </a:rPr>
              <a:t>03</a:t>
            </a:r>
            <a:endParaRPr lang="en-US" sz="900"/>
          </a:p>
        </p:txBody>
      </p:sp>
      <p:sp>
        <p:nvSpPr>
          <p:cNvPr id="8" name="Shape 8"/>
          <p:cNvSpPr/>
          <p:nvPr/>
        </p:nvSpPr>
        <p:spPr>
          <a:xfrm>
            <a:off x="658368" y="1828800"/>
            <a:ext cx="3273552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</a:ln>
        </p:spPr>
      </p:sp>
      <p:sp>
        <p:nvSpPr>
          <p:cNvPr id="9" name="Shape 9"/>
          <p:cNvSpPr/>
          <p:nvPr/>
        </p:nvSpPr>
        <p:spPr>
          <a:xfrm>
            <a:off x="822960" y="2011680"/>
            <a:ext cx="438912" cy="438912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822960" y="2039112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ctr"/>
            <a:r>
              <a:rPr lang="en-US" sz="1000" b="1" i="0">
                <a:solidFill>
                  <a:srgbClr val="FFFFFF"/>
                </a:solidFill>
                <a:latin typeface="Aptos"/>
              </a:rPr>
              <a:t>01</a:t>
            </a:r>
            <a:endParaRPr lang="en-US" sz="1000"/>
          </a:p>
        </p:txBody>
      </p:sp>
      <p:sp>
        <p:nvSpPr>
          <p:cNvPr id="11" name="Text 11"/>
          <p:cNvSpPr txBox="1"/>
          <p:nvPr/>
        </p:nvSpPr>
        <p:spPr>
          <a:xfrm>
            <a:off x="1371600" y="1993392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600" b="1" i="0">
                <a:solidFill>
                  <a:srgbClr val="0A1929"/>
                </a:solidFill>
                <a:latin typeface="Aptos"/>
              </a:rPr>
              <a:t>Knowledge hub</a:t>
            </a:r>
            <a:endParaRPr lang="en-US" sz="1600"/>
          </a:p>
        </p:txBody>
      </p:sp>
      <p:sp>
        <p:nvSpPr>
          <p:cNvPr id="12" name="Text 12"/>
          <p:cNvSpPr txBox="1"/>
          <p:nvPr/>
        </p:nvSpPr>
        <p:spPr>
          <a:xfrm>
            <a:off x="859536" y="2542032"/>
            <a:ext cx="2852928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lang="en-US" sz="1200" b="0" i="0">
                <a:solidFill>
                  <a:srgbClr val="61758B"/>
                </a:solidFill>
                <a:latin typeface="Aptos"/>
              </a:rPr>
              <a:t>Articles ? authoring ? tags ? AI search</a:t>
            </a:r>
            <a:endParaRPr lang="en-US" sz="1200"/>
          </a:p>
        </p:txBody>
      </p:sp>
      <p:sp>
        <p:nvSpPr>
          <p:cNvPr id="13" name="Shape 13"/>
          <p:cNvSpPr/>
          <p:nvPr/>
        </p:nvSpPr>
        <p:spPr>
          <a:xfrm>
            <a:off x="4453128" y="1828800"/>
            <a:ext cx="3273552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</a:ln>
        </p:spPr>
      </p:sp>
      <p:sp>
        <p:nvSpPr>
          <p:cNvPr id="14" name="Shape 14"/>
          <p:cNvSpPr/>
          <p:nvPr/>
        </p:nvSpPr>
        <p:spPr>
          <a:xfrm>
            <a:off x="4617720" y="2011680"/>
            <a:ext cx="438912" cy="43891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4617720" y="2039112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ctr"/>
            <a:r>
              <a:rPr lang="en-US" sz="1000" b="1" i="0">
                <a:solidFill>
                  <a:srgbClr val="FFFFFF"/>
                </a:solidFill>
                <a:latin typeface="Aptos"/>
              </a:rPr>
              <a:t>02</a:t>
            </a:r>
            <a:endParaRPr lang="en-US" sz="1000"/>
          </a:p>
        </p:txBody>
      </p:sp>
      <p:sp>
        <p:nvSpPr>
          <p:cNvPr id="16" name="Text 16"/>
          <p:cNvSpPr txBox="1"/>
          <p:nvPr/>
        </p:nvSpPr>
        <p:spPr>
          <a:xfrm>
            <a:off x="5166360" y="1993392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600" b="1" i="0">
                <a:solidFill>
                  <a:srgbClr val="0A1929"/>
                </a:solidFill>
                <a:latin typeface="Aptos"/>
              </a:rPr>
              <a:t>Support &amp; communication</a:t>
            </a:r>
            <a:endParaRPr lang="en-US" sz="1600"/>
          </a:p>
        </p:txBody>
      </p:sp>
      <p:sp>
        <p:nvSpPr>
          <p:cNvPr id="17" name="Text 17"/>
          <p:cNvSpPr txBox="1"/>
          <p:nvPr/>
        </p:nvSpPr>
        <p:spPr>
          <a:xfrm>
            <a:off x="4654296" y="2542032"/>
            <a:ext cx="2852928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lang="en-US" sz="1200" b="0" i="0">
                <a:solidFill>
                  <a:srgbClr val="61758B"/>
                </a:solidFill>
                <a:latin typeface="Aptos"/>
              </a:rPr>
              <a:t>Support requests ? expert requests ? chat ? notifications</a:t>
            </a:r>
            <a:endParaRPr lang="en-US" sz="1200"/>
          </a:p>
        </p:txBody>
      </p:sp>
      <p:sp>
        <p:nvSpPr>
          <p:cNvPr id="18" name="Shape 18"/>
          <p:cNvSpPr/>
          <p:nvPr/>
        </p:nvSpPr>
        <p:spPr>
          <a:xfrm>
            <a:off x="8247888" y="1828800"/>
            <a:ext cx="3273552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</a:ln>
        </p:spPr>
      </p:sp>
      <p:sp>
        <p:nvSpPr>
          <p:cNvPr id="19" name="Shape 19"/>
          <p:cNvSpPr/>
          <p:nvPr/>
        </p:nvSpPr>
        <p:spPr>
          <a:xfrm>
            <a:off x="8412480" y="2011680"/>
            <a:ext cx="438912" cy="438912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8412480" y="2039112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ctr"/>
            <a:r>
              <a:rPr lang="en-US" sz="1000" b="1" i="0">
                <a:solidFill>
                  <a:srgbClr val="FFFFFF"/>
                </a:solidFill>
                <a:latin typeface="Aptos"/>
              </a:rPr>
              <a:t>03</a:t>
            </a:r>
            <a:endParaRPr lang="en-US" sz="1000"/>
          </a:p>
        </p:txBody>
      </p:sp>
      <p:sp>
        <p:nvSpPr>
          <p:cNvPr id="21" name="Text 21"/>
          <p:cNvSpPr txBox="1"/>
          <p:nvPr/>
        </p:nvSpPr>
        <p:spPr>
          <a:xfrm>
            <a:off x="8961120" y="1993392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600" b="1" i="0">
                <a:solidFill>
                  <a:srgbClr val="0A1929"/>
                </a:solidFill>
                <a:latin typeface="Aptos"/>
              </a:rPr>
              <a:t>Transition operations</a:t>
            </a:r>
            <a:endParaRPr lang="en-US" sz="1600"/>
          </a:p>
        </p:txBody>
      </p:sp>
      <p:sp>
        <p:nvSpPr>
          <p:cNvPr id="22" name="Text 22"/>
          <p:cNvSpPr txBox="1"/>
          <p:nvPr/>
        </p:nvSpPr>
        <p:spPr>
          <a:xfrm>
            <a:off x="8449056" y="2542032"/>
            <a:ext cx="2852928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lang="en-US" sz="1200" b="0" i="0">
                <a:solidFill>
                  <a:srgbClr val="61758B"/>
                </a:solidFill>
                <a:latin typeface="Aptos"/>
              </a:rPr>
              <a:t>Transition dashboard ? certifications ? contacts</a:t>
            </a:r>
            <a:endParaRPr lang="en-US" sz="1200"/>
          </a:p>
        </p:txBody>
      </p:sp>
      <p:sp>
        <p:nvSpPr>
          <p:cNvPr id="23" name="Shape 23"/>
          <p:cNvSpPr/>
          <p:nvPr/>
        </p:nvSpPr>
        <p:spPr>
          <a:xfrm>
            <a:off x="2560320" y="3886200"/>
            <a:ext cx="3273552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</a:ln>
        </p:spPr>
      </p:sp>
      <p:sp>
        <p:nvSpPr>
          <p:cNvPr id="24" name="Shape 24"/>
          <p:cNvSpPr/>
          <p:nvPr/>
        </p:nvSpPr>
        <p:spPr>
          <a:xfrm>
            <a:off x="2724912" y="4069080"/>
            <a:ext cx="438912" cy="438912"/>
          </a:xfrm>
          <a:prstGeom prst="roundRect">
            <a:avLst/>
          </a:prstGeom>
          <a:solidFill>
            <a:srgbClr val="6A4BC3"/>
          </a:solidFill>
          <a:ln>
            <a:noFill/>
          </a:ln>
        </p:spPr>
      </p:sp>
      <p:sp>
        <p:nvSpPr>
          <p:cNvPr id="25" name="Text 25"/>
          <p:cNvSpPr txBox="1"/>
          <p:nvPr/>
        </p:nvSpPr>
        <p:spPr>
          <a:xfrm>
            <a:off x="2724912" y="4096512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ctr"/>
            <a:r>
              <a:rPr lang="en-US" sz="1000" b="1" i="0">
                <a:solidFill>
                  <a:srgbClr val="FFFFFF"/>
                </a:solidFill>
                <a:latin typeface="Aptos"/>
              </a:rPr>
              <a:t>04</a:t>
            </a:r>
            <a:endParaRPr lang="en-US" sz="1000"/>
          </a:p>
        </p:txBody>
      </p:sp>
      <p:sp>
        <p:nvSpPr>
          <p:cNvPr id="26" name="Text 26"/>
          <p:cNvSpPr txBox="1"/>
          <p:nvPr/>
        </p:nvSpPr>
        <p:spPr>
          <a:xfrm>
            <a:off x="3273552" y="4050792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600" b="1" i="0">
                <a:solidFill>
                  <a:srgbClr val="0A1929"/>
                </a:solidFill>
                <a:latin typeface="Aptos"/>
              </a:rPr>
              <a:t>AI-assisted tools</a:t>
            </a:r>
            <a:endParaRPr lang="en-US" sz="1600"/>
          </a:p>
        </p:txBody>
      </p:sp>
      <p:sp>
        <p:nvSpPr>
          <p:cNvPr id="27" name="Text 27"/>
          <p:cNvSpPr txBox="1"/>
          <p:nvPr/>
        </p:nvSpPr>
        <p:spPr>
          <a:xfrm>
            <a:off x="2761488" y="4599432"/>
            <a:ext cx="2852928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lang="en-US" sz="1200" b="0" i="0">
                <a:solidFill>
                  <a:srgbClr val="61758B"/>
                </a:solidFill>
                <a:latin typeface="Aptos"/>
              </a:rPr>
              <a:t>AI search ? ResumeIQ ? in-app AI bot</a:t>
            </a:r>
            <a:endParaRPr lang="en-US" sz="1200"/>
          </a:p>
        </p:txBody>
      </p:sp>
      <p:sp>
        <p:nvSpPr>
          <p:cNvPr id="28" name="Shape 28"/>
          <p:cNvSpPr/>
          <p:nvPr/>
        </p:nvSpPr>
        <p:spPr>
          <a:xfrm>
            <a:off x="6355080" y="3886200"/>
            <a:ext cx="3273552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</a:ln>
        </p:spPr>
      </p:sp>
      <p:sp>
        <p:nvSpPr>
          <p:cNvPr id="29" name="Shape 29"/>
          <p:cNvSpPr/>
          <p:nvPr/>
        </p:nvSpPr>
        <p:spPr>
          <a:xfrm>
            <a:off x="6519672" y="4069080"/>
            <a:ext cx="438912" cy="438912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</p:sp>
      <p:sp>
        <p:nvSpPr>
          <p:cNvPr id="30" name="Text 30"/>
          <p:cNvSpPr txBox="1"/>
          <p:nvPr/>
        </p:nvSpPr>
        <p:spPr>
          <a:xfrm>
            <a:off x="6519672" y="4096512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ctr"/>
            <a:r>
              <a:rPr lang="en-US" sz="1000" b="1" i="0">
                <a:solidFill>
                  <a:srgbClr val="FFFFFF"/>
                </a:solidFill>
                <a:latin typeface="Aptos"/>
              </a:rPr>
              <a:t>05</a:t>
            </a:r>
            <a:endParaRPr lang="en-US" sz="1000"/>
          </a:p>
        </p:txBody>
      </p:sp>
      <p:sp>
        <p:nvSpPr>
          <p:cNvPr id="31" name="Text 31"/>
          <p:cNvSpPr txBox="1"/>
          <p:nvPr/>
        </p:nvSpPr>
        <p:spPr>
          <a:xfrm>
            <a:off x="7068312" y="4050792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600" b="1" i="0">
                <a:solidFill>
                  <a:srgbClr val="0A1929"/>
                </a:solidFill>
                <a:latin typeface="Aptos"/>
              </a:rPr>
              <a:t>Administration</a:t>
            </a:r>
            <a:endParaRPr lang="en-US" sz="1600"/>
          </a:p>
        </p:txBody>
      </p:sp>
      <p:sp>
        <p:nvSpPr>
          <p:cNvPr id="32" name="Text 32"/>
          <p:cNvSpPr txBox="1"/>
          <p:nvPr/>
        </p:nvSpPr>
        <p:spPr>
          <a:xfrm>
            <a:off x="6556248" y="4599432"/>
            <a:ext cx="2852928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lang="en-US" sz="1200" b="0" i="0">
                <a:solidFill>
                  <a:srgbClr val="61758B"/>
                </a:solidFill>
                <a:latin typeface="Aptos"/>
              </a:rPr>
              <a:t>Users ? roles ? tags ? teams ? phone directory</a:t>
            </a:r>
            <a:endParaRPr lang="en-US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3504" y="292608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000" b="1" i="0">
                <a:solidFill>
                  <a:srgbClr val="1565C0"/>
                </a:solidFill>
                <a:latin typeface="Aptos"/>
              </a:rPr>
              <a:t>03  /  KNOWLEDGE HUB</a:t>
            </a:r>
            <a:endParaRPr lang="en-US" sz="1000"/>
          </a:p>
        </p:txBody>
      </p:sp>
      <p:sp>
        <p:nvSpPr>
          <p:cNvPr id="3" name="Text 3"/>
          <p:cNvSpPr txBox="1"/>
          <p:nvPr/>
        </p:nvSpPr>
        <p:spPr>
          <a:xfrm>
            <a:off x="603504" y="621792"/>
            <a:ext cx="10972800" cy="49377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2700" b="1" i="0">
                <a:solidFill>
                  <a:srgbClr val="0A1929"/>
                </a:solidFill>
                <a:latin typeface="Aptos"/>
              </a:rPr>
              <a:t>Turn operational know-how into reusable guidance</a:t>
            </a:r>
            <a:endParaRPr lang="en-US" sz="2700"/>
          </a:p>
        </p:txBody>
      </p:sp>
      <p:sp>
        <p:nvSpPr>
          <p:cNvPr id="4" name="Text 4"/>
          <p:cNvSpPr txBox="1"/>
          <p:nvPr/>
        </p:nvSpPr>
        <p:spPr>
          <a:xfrm>
            <a:off x="603504" y="1170432"/>
            <a:ext cx="109728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400" b="0" i="0">
                <a:solidFill>
                  <a:srgbClr val="61758B"/>
                </a:solidFill>
                <a:latin typeface="Aptos"/>
              </a:rPr>
              <a:t>Article experiences cover the lifecycle from authoring and discovery to review and reuse.</a:t>
            </a:r>
            <a:endParaRPr lang="en-US" sz="1400"/>
          </a:p>
        </p:txBody>
      </p:sp>
      <p:sp>
        <p:nvSpPr>
          <p:cNvPr id="5" name="Shape 5"/>
          <p:cNvSpPr/>
          <p:nvPr/>
        </p:nvSpPr>
        <p:spPr>
          <a:xfrm>
            <a:off x="603504" y="6473952"/>
            <a:ext cx="10972800" cy="10973"/>
          </a:xfrm>
          <a:prstGeom prst="rect">
            <a:avLst/>
          </a:prstGeom>
          <a:solidFill>
            <a:srgbClr val="DCE5EF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603504" y="6510528"/>
            <a:ext cx="9144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800" b="1" i="0">
                <a:solidFill>
                  <a:srgbClr val="61758B"/>
                </a:solidFill>
                <a:latin typeface="Aptos"/>
              </a:rPr>
              <a:t>SAP AMS  ?  PRODUCT OVERVIEW</a:t>
            </a:r>
            <a:endParaRPr lang="en-US" sz="800"/>
          </a:p>
        </p:txBody>
      </p:sp>
      <p:sp>
        <p:nvSpPr>
          <p:cNvPr id="7" name="Text 7"/>
          <p:cNvSpPr txBox="1"/>
          <p:nvPr/>
        </p:nvSpPr>
        <p:spPr>
          <a:xfrm>
            <a:off x="11064240" y="6492240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r"/>
            <a:r>
              <a:rPr lang="en-US" sz="900" b="1" i="0">
                <a:solidFill>
                  <a:srgbClr val="61758B"/>
                </a:solidFill>
                <a:latin typeface="Aptos"/>
              </a:rPr>
              <a:t>04</a:t>
            </a:r>
            <a:endParaRPr lang="en-US" sz="900"/>
          </a:p>
        </p:txBody>
      </p:sp>
      <p:sp>
        <p:nvSpPr>
          <p:cNvPr id="8" name="Shape 8"/>
          <p:cNvSpPr/>
          <p:nvPr/>
        </p:nvSpPr>
        <p:spPr>
          <a:xfrm>
            <a:off x="658368" y="2148840"/>
            <a:ext cx="2633472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</a:ln>
        </p:spPr>
      </p:sp>
      <p:sp>
        <p:nvSpPr>
          <p:cNvPr id="9" name="Shape 9"/>
          <p:cNvSpPr/>
          <p:nvPr/>
        </p:nvSpPr>
        <p:spPr>
          <a:xfrm>
            <a:off x="841248" y="2359152"/>
            <a:ext cx="438912" cy="438912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841248" y="2395728"/>
            <a:ext cx="438912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ctr"/>
            <a:r>
              <a:rPr lang="en-US" sz="1000" b="1" i="0">
                <a:solidFill>
                  <a:srgbClr val="FFFFFF"/>
                </a:solidFill>
                <a:latin typeface="Aptos"/>
              </a:rPr>
              <a:t>01</a:t>
            </a:r>
            <a:endParaRPr lang="en-US" sz="1000"/>
          </a:p>
        </p:txBody>
      </p:sp>
      <p:sp>
        <p:nvSpPr>
          <p:cNvPr id="11" name="Text 11"/>
          <p:cNvSpPr txBox="1"/>
          <p:nvPr/>
        </p:nvSpPr>
        <p:spPr>
          <a:xfrm>
            <a:off x="841248" y="2944368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800" b="1" i="0">
                <a:solidFill>
                  <a:srgbClr val="0A1929"/>
                </a:solidFill>
                <a:latin typeface="Aptos"/>
              </a:rPr>
              <a:t>Create</a:t>
            </a:r>
            <a:endParaRPr lang="en-US" sz="1800"/>
          </a:p>
        </p:txBody>
      </p:sp>
      <p:sp>
        <p:nvSpPr>
          <p:cNvPr id="12" name="Text 12"/>
          <p:cNvSpPr txBox="1"/>
          <p:nvPr/>
        </p:nvSpPr>
        <p:spPr>
          <a:xfrm>
            <a:off x="841248" y="3410712"/>
            <a:ext cx="2258568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>
            <a:normAutofit/>
          </a:bodyPr>
          <a:lstStyle/>
          <a:p>
            <a:pPr algn="l"/>
            <a:r>
              <a:rPr lang="en-US" sz="1300" b="0" i="0">
                <a:solidFill>
                  <a:srgbClr val="61758B"/>
                </a:solidFill>
                <a:latin typeface="Aptos"/>
              </a:rPr>
              <a:t>Draft a new article or update an existing entry.</a:t>
            </a:r>
            <a:endParaRPr lang="en-US" sz="1300"/>
          </a:p>
        </p:txBody>
      </p:sp>
      <p:sp>
        <p:nvSpPr>
          <p:cNvPr id="13" name="Text 13"/>
          <p:cNvSpPr txBox="1"/>
          <p:nvPr/>
        </p:nvSpPr>
        <p:spPr>
          <a:xfrm>
            <a:off x="3300984" y="2862072"/>
            <a:ext cx="2286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ctr"/>
            <a:r>
              <a:rPr lang="en-US" sz="1800" b="1" i="0">
                <a:solidFill>
                  <a:srgbClr val="1565C0"/>
                </a:solidFill>
                <a:latin typeface="Aptos"/>
              </a:rPr>
              <a:t>?</a:t>
            </a:r>
            <a:endParaRPr lang="en-US" sz="1800"/>
          </a:p>
        </p:txBody>
      </p:sp>
      <p:sp>
        <p:nvSpPr>
          <p:cNvPr id="14" name="Shape 14"/>
          <p:cNvSpPr/>
          <p:nvPr/>
        </p:nvSpPr>
        <p:spPr>
          <a:xfrm>
            <a:off x="3520440" y="2148840"/>
            <a:ext cx="2633472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</a:ln>
        </p:spPr>
      </p:sp>
      <p:sp>
        <p:nvSpPr>
          <p:cNvPr id="15" name="Shape 15"/>
          <p:cNvSpPr/>
          <p:nvPr/>
        </p:nvSpPr>
        <p:spPr>
          <a:xfrm>
            <a:off x="3703320" y="2359152"/>
            <a:ext cx="438912" cy="438912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3703320" y="2395728"/>
            <a:ext cx="438912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ctr"/>
            <a:r>
              <a:rPr lang="en-US" sz="1000" b="1" i="0">
                <a:solidFill>
                  <a:srgbClr val="FFFFFF"/>
                </a:solidFill>
                <a:latin typeface="Aptos"/>
              </a:rPr>
              <a:t>02</a:t>
            </a:r>
            <a:endParaRPr lang="en-US" sz="1000"/>
          </a:p>
        </p:txBody>
      </p:sp>
      <p:sp>
        <p:nvSpPr>
          <p:cNvPr id="17" name="Text 17"/>
          <p:cNvSpPr txBox="1"/>
          <p:nvPr/>
        </p:nvSpPr>
        <p:spPr>
          <a:xfrm>
            <a:off x="3703320" y="2944368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800" b="1" i="0">
                <a:solidFill>
                  <a:srgbClr val="0A1929"/>
                </a:solidFill>
                <a:latin typeface="Aptos"/>
              </a:rPr>
              <a:t>Review</a:t>
            </a:r>
            <a:endParaRPr lang="en-US" sz="1800"/>
          </a:p>
        </p:txBody>
      </p:sp>
      <p:sp>
        <p:nvSpPr>
          <p:cNvPr id="18" name="Text 18"/>
          <p:cNvSpPr txBox="1"/>
          <p:nvPr/>
        </p:nvSpPr>
        <p:spPr>
          <a:xfrm>
            <a:off x="3703320" y="3410712"/>
            <a:ext cx="2258568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>
            <a:normAutofit/>
          </a:bodyPr>
          <a:lstStyle/>
          <a:p>
            <a:pPr algn="l"/>
            <a:r>
              <a:rPr lang="en-US" sz="1300" b="0" i="0">
                <a:solidFill>
                  <a:srgbClr val="61758B"/>
                </a:solidFill>
                <a:latin typeface="Aptos"/>
              </a:rPr>
              <a:t>Article states include draft, under review, published and rejected.</a:t>
            </a:r>
            <a:endParaRPr lang="en-US" sz="1300"/>
          </a:p>
        </p:txBody>
      </p:sp>
      <p:sp>
        <p:nvSpPr>
          <p:cNvPr id="19" name="Text 19"/>
          <p:cNvSpPr txBox="1"/>
          <p:nvPr/>
        </p:nvSpPr>
        <p:spPr>
          <a:xfrm>
            <a:off x="6163056" y="2862072"/>
            <a:ext cx="2286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ctr"/>
            <a:r>
              <a:rPr lang="en-US" sz="1800" b="1" i="0">
                <a:solidFill>
                  <a:srgbClr val="1565C0"/>
                </a:solidFill>
                <a:latin typeface="Aptos"/>
              </a:rPr>
              <a:t>?</a:t>
            </a:r>
            <a:endParaRPr lang="en-US" sz="1800"/>
          </a:p>
        </p:txBody>
      </p:sp>
      <p:sp>
        <p:nvSpPr>
          <p:cNvPr id="20" name="Shape 20"/>
          <p:cNvSpPr/>
          <p:nvPr/>
        </p:nvSpPr>
        <p:spPr>
          <a:xfrm>
            <a:off x="6382512" y="2148840"/>
            <a:ext cx="2633472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</a:ln>
        </p:spPr>
      </p:sp>
      <p:sp>
        <p:nvSpPr>
          <p:cNvPr id="21" name="Shape 21"/>
          <p:cNvSpPr/>
          <p:nvPr/>
        </p:nvSpPr>
        <p:spPr>
          <a:xfrm>
            <a:off x="6565392" y="2359152"/>
            <a:ext cx="438912" cy="438912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6565392" y="2395728"/>
            <a:ext cx="438912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ctr"/>
            <a:r>
              <a:rPr lang="en-US" sz="1000" b="1" i="0">
                <a:solidFill>
                  <a:srgbClr val="FFFFFF"/>
                </a:solidFill>
                <a:latin typeface="Aptos"/>
              </a:rPr>
              <a:t>03</a:t>
            </a:r>
            <a:endParaRPr lang="en-US" sz="1000"/>
          </a:p>
        </p:txBody>
      </p:sp>
      <p:sp>
        <p:nvSpPr>
          <p:cNvPr id="23" name="Text 23"/>
          <p:cNvSpPr txBox="1"/>
          <p:nvPr/>
        </p:nvSpPr>
        <p:spPr>
          <a:xfrm>
            <a:off x="6565392" y="2944368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800" b="1" i="0">
                <a:solidFill>
                  <a:srgbClr val="0A1929"/>
                </a:solidFill>
                <a:latin typeface="Aptos"/>
              </a:rPr>
              <a:t>Discover</a:t>
            </a:r>
            <a:endParaRPr lang="en-US" sz="1800"/>
          </a:p>
        </p:txBody>
      </p:sp>
      <p:sp>
        <p:nvSpPr>
          <p:cNvPr id="24" name="Text 24"/>
          <p:cNvSpPr txBox="1"/>
          <p:nvPr/>
        </p:nvSpPr>
        <p:spPr>
          <a:xfrm>
            <a:off x="6565392" y="3410712"/>
            <a:ext cx="2258568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>
            <a:normAutofit/>
          </a:bodyPr>
          <a:lstStyle/>
          <a:p>
            <a:pPr algn="l"/>
            <a:r>
              <a:rPr lang="en-US" sz="1300" b="0" i="0">
                <a:solidFill>
                  <a:srgbClr val="61758B"/>
                </a:solidFill>
                <a:latin typeface="Aptos"/>
              </a:rPr>
              <a:t>Browse articles and use tags and AI-assisted search.</a:t>
            </a:r>
            <a:endParaRPr lang="en-US" sz="1300"/>
          </a:p>
        </p:txBody>
      </p:sp>
      <p:sp>
        <p:nvSpPr>
          <p:cNvPr id="25" name="Text 25"/>
          <p:cNvSpPr txBox="1"/>
          <p:nvPr/>
        </p:nvSpPr>
        <p:spPr>
          <a:xfrm>
            <a:off x="9025128" y="2862072"/>
            <a:ext cx="2286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ctr"/>
            <a:r>
              <a:rPr lang="en-US" sz="1800" b="1" i="0">
                <a:solidFill>
                  <a:srgbClr val="1565C0"/>
                </a:solidFill>
                <a:latin typeface="Aptos"/>
              </a:rPr>
              <a:t>?</a:t>
            </a:r>
            <a:endParaRPr lang="en-US" sz="1800"/>
          </a:p>
        </p:txBody>
      </p:sp>
      <p:sp>
        <p:nvSpPr>
          <p:cNvPr id="26" name="Shape 26"/>
          <p:cNvSpPr/>
          <p:nvPr/>
        </p:nvSpPr>
        <p:spPr>
          <a:xfrm>
            <a:off x="9244584" y="2148840"/>
            <a:ext cx="2633472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</a:ln>
        </p:spPr>
      </p:sp>
      <p:sp>
        <p:nvSpPr>
          <p:cNvPr id="27" name="Shape 27"/>
          <p:cNvSpPr/>
          <p:nvPr/>
        </p:nvSpPr>
        <p:spPr>
          <a:xfrm>
            <a:off x="9427464" y="2359152"/>
            <a:ext cx="438912" cy="438912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28" name="Text 28"/>
          <p:cNvSpPr txBox="1"/>
          <p:nvPr/>
        </p:nvSpPr>
        <p:spPr>
          <a:xfrm>
            <a:off x="9427464" y="2395728"/>
            <a:ext cx="438912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ctr"/>
            <a:r>
              <a:rPr lang="en-US" sz="1000" b="1" i="0">
                <a:solidFill>
                  <a:srgbClr val="FFFFFF"/>
                </a:solidFill>
                <a:latin typeface="Aptos"/>
              </a:rPr>
              <a:t>04</a:t>
            </a:r>
            <a:endParaRPr lang="en-US" sz="1000"/>
          </a:p>
        </p:txBody>
      </p:sp>
      <p:sp>
        <p:nvSpPr>
          <p:cNvPr id="29" name="Text 29"/>
          <p:cNvSpPr txBox="1"/>
          <p:nvPr/>
        </p:nvSpPr>
        <p:spPr>
          <a:xfrm>
            <a:off x="9427464" y="2944368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800" b="1" i="0">
                <a:solidFill>
                  <a:srgbClr val="0A1929"/>
                </a:solidFill>
                <a:latin typeface="Aptos"/>
              </a:rPr>
              <a:t>Reuse</a:t>
            </a:r>
            <a:endParaRPr lang="en-US" sz="1800"/>
          </a:p>
        </p:txBody>
      </p:sp>
      <p:sp>
        <p:nvSpPr>
          <p:cNvPr id="30" name="Text 30"/>
          <p:cNvSpPr txBox="1"/>
          <p:nvPr/>
        </p:nvSpPr>
        <p:spPr>
          <a:xfrm>
            <a:off x="9427464" y="3410712"/>
            <a:ext cx="2258568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>
            <a:normAutofit/>
          </a:bodyPr>
          <a:lstStyle/>
          <a:p>
            <a:pPr algn="l"/>
            <a:r>
              <a:rPr lang="en-US" sz="1300" b="0" i="0">
                <a:solidFill>
                  <a:srgbClr val="61758B"/>
                </a:solidFill>
                <a:latin typeface="Aptos"/>
              </a:rPr>
              <a:t>Open guidance from the knowledge base while handling work.</a:t>
            </a:r>
            <a:endParaRPr lang="en-US" sz="1300"/>
          </a:p>
        </p:txBody>
      </p:sp>
      <p:sp>
        <p:nvSpPr>
          <p:cNvPr id="31" name="Shape 31"/>
          <p:cNvSpPr/>
          <p:nvPr/>
        </p:nvSpPr>
        <p:spPr>
          <a:xfrm>
            <a:off x="658368" y="4645152"/>
            <a:ext cx="10954512" cy="777240"/>
          </a:xfrm>
          <a:prstGeom prst="roundRect">
            <a:avLst/>
          </a:prstGeom>
          <a:solidFill>
            <a:srgbClr val="EAF3FF"/>
          </a:solidFill>
          <a:ln>
            <a:noFill/>
          </a:ln>
        </p:spPr>
      </p:sp>
      <p:sp>
        <p:nvSpPr>
          <p:cNvPr id="32" name="Text 32"/>
          <p:cNvSpPr txBox="1"/>
          <p:nvPr/>
        </p:nvSpPr>
        <p:spPr>
          <a:xfrm>
            <a:off x="896112" y="4809744"/>
            <a:ext cx="104241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400" b="1" i="0">
                <a:solidFill>
                  <a:srgbClr val="1565C0"/>
                </a:solidFill>
                <a:latin typeface="Aptos"/>
              </a:rPr>
              <a:t>Related surfaces: article list, article detail, create/edit, tags, visibility and AI search.</a:t>
            </a:r>
            <a:endParaRPr lang="en-US"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3504" y="292608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000" b="1" i="0">
                <a:solidFill>
                  <a:srgbClr val="1565C0"/>
                </a:solidFill>
                <a:latin typeface="Aptos"/>
              </a:rPr>
              <a:t>04  /  SUPPORT &amp; COLLABORATION</a:t>
            </a:r>
            <a:endParaRPr lang="en-US" sz="1000"/>
          </a:p>
        </p:txBody>
      </p:sp>
      <p:sp>
        <p:nvSpPr>
          <p:cNvPr id="3" name="Text 3"/>
          <p:cNvSpPr txBox="1"/>
          <p:nvPr/>
        </p:nvSpPr>
        <p:spPr>
          <a:xfrm>
            <a:off x="603504" y="621792"/>
            <a:ext cx="10972800" cy="49377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2700" b="1" i="0">
                <a:solidFill>
                  <a:srgbClr val="0A1929"/>
                </a:solidFill>
                <a:latin typeface="Aptos"/>
              </a:rPr>
              <a:t>Help requests and communication in one workspace</a:t>
            </a:r>
            <a:endParaRPr lang="en-US" sz="2700"/>
          </a:p>
        </p:txBody>
      </p:sp>
      <p:sp>
        <p:nvSpPr>
          <p:cNvPr id="4" name="Text 4"/>
          <p:cNvSpPr txBox="1"/>
          <p:nvPr/>
        </p:nvSpPr>
        <p:spPr>
          <a:xfrm>
            <a:off x="603504" y="1170432"/>
            <a:ext cx="109728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400" b="0" i="0">
                <a:solidFill>
                  <a:srgbClr val="61758B"/>
                </a:solidFill>
                <a:latin typeface="Aptos"/>
              </a:rPr>
              <a:t>Users can reach support pathways and stay connected through shared collaboration surfaces.</a:t>
            </a:r>
            <a:endParaRPr lang="en-US" sz="1400"/>
          </a:p>
        </p:txBody>
      </p:sp>
      <p:sp>
        <p:nvSpPr>
          <p:cNvPr id="5" name="Shape 5"/>
          <p:cNvSpPr/>
          <p:nvPr/>
        </p:nvSpPr>
        <p:spPr>
          <a:xfrm>
            <a:off x="603504" y="6473952"/>
            <a:ext cx="10972800" cy="10973"/>
          </a:xfrm>
          <a:prstGeom prst="rect">
            <a:avLst/>
          </a:prstGeom>
          <a:solidFill>
            <a:srgbClr val="DCE5EF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603504" y="6510528"/>
            <a:ext cx="9144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800" b="1" i="0">
                <a:solidFill>
                  <a:srgbClr val="61758B"/>
                </a:solidFill>
                <a:latin typeface="Aptos"/>
              </a:rPr>
              <a:t>SAP AMS  ?  PRODUCT OVERVIEW</a:t>
            </a:r>
            <a:endParaRPr lang="en-US" sz="800"/>
          </a:p>
        </p:txBody>
      </p:sp>
      <p:sp>
        <p:nvSpPr>
          <p:cNvPr id="7" name="Text 7"/>
          <p:cNvSpPr txBox="1"/>
          <p:nvPr/>
        </p:nvSpPr>
        <p:spPr>
          <a:xfrm>
            <a:off x="11064240" y="6492240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r"/>
            <a:r>
              <a:rPr lang="en-US" sz="900" b="1" i="0">
                <a:solidFill>
                  <a:srgbClr val="61758B"/>
                </a:solidFill>
                <a:latin typeface="Aptos"/>
              </a:rPr>
              <a:t>05</a:t>
            </a:r>
            <a:endParaRPr lang="en-US" sz="900"/>
          </a:p>
        </p:txBody>
      </p:sp>
      <p:sp>
        <p:nvSpPr>
          <p:cNvPr id="8" name="Shape 8"/>
          <p:cNvSpPr/>
          <p:nvPr/>
        </p:nvSpPr>
        <p:spPr>
          <a:xfrm>
            <a:off x="658368" y="1856232"/>
            <a:ext cx="5285232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</a:ln>
        </p:spPr>
      </p:sp>
      <p:sp>
        <p:nvSpPr>
          <p:cNvPr id="9" name="Shape 9"/>
          <p:cNvSpPr/>
          <p:nvPr/>
        </p:nvSpPr>
        <p:spPr>
          <a:xfrm>
            <a:off x="658368" y="1856232"/>
            <a:ext cx="64008" cy="1353312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859536" y="2011680"/>
            <a:ext cx="4901184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700" b="1" i="0">
                <a:solidFill>
                  <a:srgbClr val="0A1929"/>
                </a:solidFill>
                <a:latin typeface="Aptos"/>
              </a:rPr>
              <a:t>Support requests</a:t>
            </a:r>
            <a:endParaRPr lang="en-US" sz="1700"/>
          </a:p>
        </p:txBody>
      </p:sp>
      <p:sp>
        <p:nvSpPr>
          <p:cNvPr id="11" name="Text 11"/>
          <p:cNvSpPr txBox="1"/>
          <p:nvPr/>
        </p:nvSpPr>
        <p:spPr>
          <a:xfrm>
            <a:off x="859536" y="2478024"/>
            <a:ext cx="4901184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lang="en-US" sz="1400" b="0" i="0">
                <a:solidFill>
                  <a:srgbClr val="61758B"/>
                </a:solidFill>
                <a:latin typeface="Aptos"/>
              </a:rPr>
              <a:t>Submit and track support needs through the support area.</a:t>
            </a:r>
            <a:endParaRPr lang="en-US" sz="1400"/>
          </a:p>
        </p:txBody>
      </p:sp>
      <p:sp>
        <p:nvSpPr>
          <p:cNvPr id="12" name="Shape 12"/>
          <p:cNvSpPr/>
          <p:nvPr/>
        </p:nvSpPr>
        <p:spPr>
          <a:xfrm>
            <a:off x="6254496" y="1856232"/>
            <a:ext cx="5285232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</a:ln>
        </p:spPr>
      </p:sp>
      <p:sp>
        <p:nvSpPr>
          <p:cNvPr id="13" name="Shape 13"/>
          <p:cNvSpPr/>
          <p:nvPr/>
        </p:nvSpPr>
        <p:spPr>
          <a:xfrm>
            <a:off x="6254496" y="1856232"/>
            <a:ext cx="64008" cy="135331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6455664" y="2011680"/>
            <a:ext cx="4901184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700" b="1" i="0">
                <a:solidFill>
                  <a:srgbClr val="0A1929"/>
                </a:solidFill>
                <a:latin typeface="Aptos"/>
              </a:rPr>
              <a:t>Expert requests</a:t>
            </a:r>
            <a:endParaRPr lang="en-US" sz="1700"/>
          </a:p>
        </p:txBody>
      </p:sp>
      <p:sp>
        <p:nvSpPr>
          <p:cNvPr id="15" name="Text 15"/>
          <p:cNvSpPr txBox="1"/>
          <p:nvPr/>
        </p:nvSpPr>
        <p:spPr>
          <a:xfrm>
            <a:off x="6455664" y="2478024"/>
            <a:ext cx="4901184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lang="en-US" sz="1400" b="0" i="0">
                <a:solidFill>
                  <a:srgbClr val="61758B"/>
                </a:solidFill>
                <a:latin typeface="Aptos"/>
              </a:rPr>
              <a:t>Connect a request to expert assistance.</a:t>
            </a:r>
            <a:endParaRPr lang="en-US" sz="1400"/>
          </a:p>
        </p:txBody>
      </p:sp>
      <p:sp>
        <p:nvSpPr>
          <p:cNvPr id="16" name="Shape 16"/>
          <p:cNvSpPr/>
          <p:nvPr/>
        </p:nvSpPr>
        <p:spPr>
          <a:xfrm>
            <a:off x="658368" y="3483864"/>
            <a:ext cx="5285232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</a:ln>
        </p:spPr>
      </p:sp>
      <p:sp>
        <p:nvSpPr>
          <p:cNvPr id="17" name="Shape 17"/>
          <p:cNvSpPr/>
          <p:nvPr/>
        </p:nvSpPr>
        <p:spPr>
          <a:xfrm>
            <a:off x="658368" y="3483864"/>
            <a:ext cx="64008" cy="1353312"/>
          </a:xfrm>
          <a:prstGeom prst="roundRect">
            <a:avLst/>
          </a:prstGeom>
          <a:solidFill>
            <a:srgbClr val="6A4BC3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859536" y="3639312"/>
            <a:ext cx="4901184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700" b="1" i="0">
                <a:solidFill>
                  <a:srgbClr val="0A1929"/>
                </a:solidFill>
                <a:latin typeface="Aptos"/>
              </a:rPr>
              <a:t>Chat</a:t>
            </a:r>
            <a:endParaRPr lang="en-US" sz="1700"/>
          </a:p>
        </p:txBody>
      </p:sp>
      <p:sp>
        <p:nvSpPr>
          <p:cNvPr id="19" name="Text 19"/>
          <p:cNvSpPr txBox="1"/>
          <p:nvPr/>
        </p:nvSpPr>
        <p:spPr>
          <a:xfrm>
            <a:off x="859536" y="4105656"/>
            <a:ext cx="4901184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lang="en-US" sz="1400" b="0" i="0">
                <a:solidFill>
                  <a:srgbClr val="61758B"/>
                </a:solidFill>
                <a:latin typeface="Aptos"/>
              </a:rPr>
              <a:t>Use in-app chat for team communication.</a:t>
            </a:r>
            <a:endParaRPr lang="en-US" sz="1400"/>
          </a:p>
        </p:txBody>
      </p:sp>
      <p:sp>
        <p:nvSpPr>
          <p:cNvPr id="20" name="Shape 20"/>
          <p:cNvSpPr/>
          <p:nvPr/>
        </p:nvSpPr>
        <p:spPr>
          <a:xfrm>
            <a:off x="6254496" y="3483864"/>
            <a:ext cx="5285232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</a:ln>
        </p:spPr>
      </p:sp>
      <p:sp>
        <p:nvSpPr>
          <p:cNvPr id="21" name="Shape 21"/>
          <p:cNvSpPr/>
          <p:nvPr/>
        </p:nvSpPr>
        <p:spPr>
          <a:xfrm>
            <a:off x="6254496" y="3483864"/>
            <a:ext cx="64008" cy="1353312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6455664" y="3639312"/>
            <a:ext cx="4901184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700" b="1" i="0">
                <a:solidFill>
                  <a:srgbClr val="0A1929"/>
                </a:solidFill>
                <a:latin typeface="Aptos"/>
              </a:rPr>
              <a:t>Notifications</a:t>
            </a:r>
            <a:endParaRPr lang="en-US" sz="1700"/>
          </a:p>
        </p:txBody>
      </p:sp>
      <p:sp>
        <p:nvSpPr>
          <p:cNvPr id="23" name="Text 23"/>
          <p:cNvSpPr txBox="1"/>
          <p:nvPr/>
        </p:nvSpPr>
        <p:spPr>
          <a:xfrm>
            <a:off x="6455664" y="4105656"/>
            <a:ext cx="4901184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lang="en-US" sz="1400" b="0" i="0">
                <a:solidFill>
                  <a:srgbClr val="61758B"/>
                </a:solidFill>
                <a:latin typeface="Aptos"/>
              </a:rPr>
              <a:t>Review updates, with unread indicators in the navigation.</a:t>
            </a:r>
            <a:endParaRPr lang="en-US" sz="1400"/>
          </a:p>
        </p:txBody>
      </p:sp>
      <p:sp>
        <p:nvSpPr>
          <p:cNvPr id="24" name="Shape 24"/>
          <p:cNvSpPr/>
          <p:nvPr/>
        </p:nvSpPr>
        <p:spPr>
          <a:xfrm>
            <a:off x="658368" y="5413248"/>
            <a:ext cx="10954512" cy="530352"/>
          </a:xfrm>
          <a:prstGeom prst="roundRect">
            <a:avLst/>
          </a:prstGeom>
          <a:solidFill>
            <a:srgbClr val="0A1929"/>
          </a:solidFill>
          <a:ln>
            <a:noFill/>
          </a:ln>
        </p:spPr>
      </p:sp>
      <p:sp>
        <p:nvSpPr>
          <p:cNvPr id="25" name="Text 25"/>
          <p:cNvSpPr txBox="1"/>
          <p:nvPr/>
        </p:nvSpPr>
        <p:spPr>
          <a:xfrm>
            <a:off x="877824" y="5513832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ctr"/>
            <a:r>
              <a:rPr lang="en-US" sz="1400" b="1" i="0">
                <a:solidFill>
                  <a:srgbClr val="FFFFFF"/>
                </a:solidFill>
                <a:latin typeface="Aptos"/>
              </a:rPr>
              <a:t>A practical loop: ask for help  ?  involve the right expertise  ?  follow updates.</a:t>
            </a:r>
            <a:endParaRPr lang="en-US"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3504" y="292608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000" b="1" i="0">
                <a:solidFill>
                  <a:srgbClr val="1565C0"/>
                </a:solidFill>
                <a:latin typeface="Aptos"/>
              </a:rPr>
              <a:t>05  /  TRANSITION OPERATIONS</a:t>
            </a:r>
            <a:endParaRPr lang="en-US" sz="1000"/>
          </a:p>
        </p:txBody>
      </p:sp>
      <p:sp>
        <p:nvSpPr>
          <p:cNvPr id="3" name="Text 3"/>
          <p:cNvSpPr txBox="1"/>
          <p:nvPr/>
        </p:nvSpPr>
        <p:spPr>
          <a:xfrm>
            <a:off x="603504" y="621792"/>
            <a:ext cx="10972800" cy="49377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2700" b="1" i="0">
                <a:solidFill>
                  <a:srgbClr val="0A1929"/>
                </a:solidFill>
                <a:latin typeface="Aptos"/>
              </a:rPr>
              <a:t>Support structured handoffs and readiness</a:t>
            </a:r>
            <a:endParaRPr lang="en-US" sz="2700"/>
          </a:p>
        </p:txBody>
      </p:sp>
      <p:sp>
        <p:nvSpPr>
          <p:cNvPr id="4" name="Text 4"/>
          <p:cNvSpPr txBox="1"/>
          <p:nvPr/>
        </p:nvSpPr>
        <p:spPr>
          <a:xfrm>
            <a:off x="603504" y="1170432"/>
            <a:ext cx="109728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400" b="0" i="0">
                <a:solidFill>
                  <a:srgbClr val="61758B"/>
                </a:solidFill>
                <a:latin typeface="Aptos"/>
              </a:rPr>
              <a:t>Transition-facing screens are complemented by server routes for onboarding, training and readiness workflows.</a:t>
            </a:r>
            <a:endParaRPr lang="en-US" sz="1400"/>
          </a:p>
        </p:txBody>
      </p:sp>
      <p:sp>
        <p:nvSpPr>
          <p:cNvPr id="5" name="Shape 5"/>
          <p:cNvSpPr/>
          <p:nvPr/>
        </p:nvSpPr>
        <p:spPr>
          <a:xfrm>
            <a:off x="603504" y="6473952"/>
            <a:ext cx="10972800" cy="10973"/>
          </a:xfrm>
          <a:prstGeom prst="rect">
            <a:avLst/>
          </a:prstGeom>
          <a:solidFill>
            <a:srgbClr val="DCE5EF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603504" y="6510528"/>
            <a:ext cx="9144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800" b="1" i="0">
                <a:solidFill>
                  <a:srgbClr val="61758B"/>
                </a:solidFill>
                <a:latin typeface="Aptos"/>
              </a:rPr>
              <a:t>SAP AMS  ?  PRODUCT OVERVIEW</a:t>
            </a:r>
            <a:endParaRPr lang="en-US" sz="800"/>
          </a:p>
        </p:txBody>
      </p:sp>
      <p:sp>
        <p:nvSpPr>
          <p:cNvPr id="7" name="Text 7"/>
          <p:cNvSpPr txBox="1"/>
          <p:nvPr/>
        </p:nvSpPr>
        <p:spPr>
          <a:xfrm>
            <a:off x="11064240" y="6492240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r"/>
            <a:r>
              <a:rPr lang="en-US" sz="900" b="1" i="0">
                <a:solidFill>
                  <a:srgbClr val="61758B"/>
                </a:solidFill>
                <a:latin typeface="Aptos"/>
              </a:rPr>
              <a:t>06</a:t>
            </a:r>
            <a:endParaRPr lang="en-US" sz="900"/>
          </a:p>
        </p:txBody>
      </p:sp>
      <p:sp>
        <p:nvSpPr>
          <p:cNvPr id="8" name="Shape 8"/>
          <p:cNvSpPr/>
          <p:nvPr/>
        </p:nvSpPr>
        <p:spPr>
          <a:xfrm>
            <a:off x="658368" y="1847088"/>
            <a:ext cx="3456432" cy="13167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</a:ln>
        </p:spPr>
      </p:sp>
      <p:sp>
        <p:nvSpPr>
          <p:cNvPr id="9" name="Shape 9"/>
          <p:cNvSpPr/>
          <p:nvPr/>
        </p:nvSpPr>
        <p:spPr>
          <a:xfrm>
            <a:off x="658368" y="1847088"/>
            <a:ext cx="64008" cy="1316736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859536" y="2002536"/>
            <a:ext cx="3072384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700" b="1" i="0">
                <a:solidFill>
                  <a:srgbClr val="0A1929"/>
                </a:solidFill>
                <a:latin typeface="Aptos"/>
              </a:rPr>
              <a:t>Transition dashboard</a:t>
            </a:r>
            <a:endParaRPr lang="en-US" sz="1700"/>
          </a:p>
        </p:txBody>
      </p:sp>
      <p:sp>
        <p:nvSpPr>
          <p:cNvPr id="11" name="Text 11"/>
          <p:cNvSpPr txBox="1"/>
          <p:nvPr/>
        </p:nvSpPr>
        <p:spPr>
          <a:xfrm>
            <a:off x="859536" y="2468880"/>
            <a:ext cx="3072384" cy="557784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lang="en-US" sz="1300" b="0" i="0">
                <a:solidFill>
                  <a:srgbClr val="61758B"/>
                </a:solidFill>
                <a:latin typeface="Aptos"/>
              </a:rPr>
              <a:t>A central view for transition work.</a:t>
            </a:r>
            <a:endParaRPr lang="en-US" sz="1300"/>
          </a:p>
        </p:txBody>
      </p:sp>
      <p:sp>
        <p:nvSpPr>
          <p:cNvPr id="12" name="Shape 12"/>
          <p:cNvSpPr/>
          <p:nvPr/>
        </p:nvSpPr>
        <p:spPr>
          <a:xfrm>
            <a:off x="4425696" y="1847088"/>
            <a:ext cx="3456432" cy="13167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</a:ln>
        </p:spPr>
      </p:sp>
      <p:sp>
        <p:nvSpPr>
          <p:cNvPr id="13" name="Shape 13"/>
          <p:cNvSpPr/>
          <p:nvPr/>
        </p:nvSpPr>
        <p:spPr>
          <a:xfrm>
            <a:off x="4425696" y="1847088"/>
            <a:ext cx="64008" cy="1316736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4626864" y="2002536"/>
            <a:ext cx="3072384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700" b="1" i="0">
                <a:solidFill>
                  <a:srgbClr val="0A1929"/>
                </a:solidFill>
                <a:latin typeface="Aptos"/>
              </a:rPr>
              <a:t>Certifications</a:t>
            </a:r>
            <a:endParaRPr lang="en-US" sz="1700"/>
          </a:p>
        </p:txBody>
      </p:sp>
      <p:sp>
        <p:nvSpPr>
          <p:cNvPr id="15" name="Text 15"/>
          <p:cNvSpPr txBox="1"/>
          <p:nvPr/>
        </p:nvSpPr>
        <p:spPr>
          <a:xfrm>
            <a:off x="4626864" y="2468880"/>
            <a:ext cx="3072384" cy="557784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lang="en-US" sz="1300" b="0" i="0">
                <a:solidFill>
                  <a:srgbClr val="61758B"/>
                </a:solidFill>
                <a:latin typeface="Aptos"/>
              </a:rPr>
              <a:t>Track certification information.</a:t>
            </a:r>
            <a:endParaRPr lang="en-US" sz="1300"/>
          </a:p>
        </p:txBody>
      </p:sp>
      <p:sp>
        <p:nvSpPr>
          <p:cNvPr id="16" name="Shape 16"/>
          <p:cNvSpPr/>
          <p:nvPr/>
        </p:nvSpPr>
        <p:spPr>
          <a:xfrm>
            <a:off x="8193024" y="1847088"/>
            <a:ext cx="3456432" cy="13167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</a:ln>
        </p:spPr>
      </p:sp>
      <p:sp>
        <p:nvSpPr>
          <p:cNvPr id="17" name="Shape 17"/>
          <p:cNvSpPr/>
          <p:nvPr/>
        </p:nvSpPr>
        <p:spPr>
          <a:xfrm>
            <a:off x="8193024" y="1847088"/>
            <a:ext cx="64008" cy="1316736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8394192" y="2002536"/>
            <a:ext cx="3072384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700" b="1" i="0">
                <a:solidFill>
                  <a:srgbClr val="0A1929"/>
                </a:solidFill>
                <a:latin typeface="Aptos"/>
              </a:rPr>
              <a:t>Key contacts</a:t>
            </a:r>
            <a:endParaRPr lang="en-US" sz="1700"/>
          </a:p>
        </p:txBody>
      </p:sp>
      <p:sp>
        <p:nvSpPr>
          <p:cNvPr id="19" name="Text 19"/>
          <p:cNvSpPr txBox="1"/>
          <p:nvPr/>
        </p:nvSpPr>
        <p:spPr>
          <a:xfrm>
            <a:off x="8394192" y="2468880"/>
            <a:ext cx="3072384" cy="557784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lang="en-US" sz="1300" b="0" i="0">
                <a:solidFill>
                  <a:srgbClr val="61758B"/>
                </a:solidFill>
                <a:latin typeface="Aptos"/>
              </a:rPr>
              <a:t>Find transition-related contacts.</a:t>
            </a:r>
            <a:endParaRPr lang="en-US" sz="1300"/>
          </a:p>
        </p:txBody>
      </p:sp>
      <p:sp>
        <p:nvSpPr>
          <p:cNvPr id="20" name="Shape 20"/>
          <p:cNvSpPr/>
          <p:nvPr/>
        </p:nvSpPr>
        <p:spPr>
          <a:xfrm>
            <a:off x="658368" y="3419856"/>
            <a:ext cx="3456432" cy="13167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</a:ln>
        </p:spPr>
      </p:sp>
      <p:sp>
        <p:nvSpPr>
          <p:cNvPr id="21" name="Shape 21"/>
          <p:cNvSpPr/>
          <p:nvPr/>
        </p:nvSpPr>
        <p:spPr>
          <a:xfrm>
            <a:off x="658368" y="3419856"/>
            <a:ext cx="64008" cy="1316736"/>
          </a:xfrm>
          <a:prstGeom prst="roundRect">
            <a:avLst/>
          </a:prstGeom>
          <a:solidFill>
            <a:srgbClr val="6A4BC3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859536" y="3575304"/>
            <a:ext cx="3072384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700" b="1" i="0">
                <a:solidFill>
                  <a:srgbClr val="0A1929"/>
                </a:solidFill>
                <a:latin typeface="Aptos"/>
              </a:rPr>
              <a:t>Onboarding &amp; approvals</a:t>
            </a:r>
            <a:endParaRPr lang="en-US" sz="1700"/>
          </a:p>
        </p:txBody>
      </p:sp>
      <p:sp>
        <p:nvSpPr>
          <p:cNvPr id="23" name="Text 23"/>
          <p:cNvSpPr txBox="1"/>
          <p:nvPr/>
        </p:nvSpPr>
        <p:spPr>
          <a:xfrm>
            <a:off x="859536" y="4041648"/>
            <a:ext cx="3072384" cy="557784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lang="en-US" sz="1300" b="0" i="0">
                <a:solidFill>
                  <a:srgbClr val="61758B"/>
                </a:solidFill>
                <a:latin typeface="Aptos"/>
              </a:rPr>
              <a:t>Routes cover onboarding progress and approval flows.</a:t>
            </a:r>
            <a:endParaRPr lang="en-US" sz="1300"/>
          </a:p>
        </p:txBody>
      </p:sp>
      <p:sp>
        <p:nvSpPr>
          <p:cNvPr id="24" name="Shape 24"/>
          <p:cNvSpPr/>
          <p:nvPr/>
        </p:nvSpPr>
        <p:spPr>
          <a:xfrm>
            <a:off x="4425696" y="3419856"/>
            <a:ext cx="3456432" cy="13167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</a:ln>
        </p:spPr>
      </p:sp>
      <p:sp>
        <p:nvSpPr>
          <p:cNvPr id="25" name="Shape 25"/>
          <p:cNvSpPr/>
          <p:nvPr/>
        </p:nvSpPr>
        <p:spPr>
          <a:xfrm>
            <a:off x="4425696" y="3419856"/>
            <a:ext cx="64008" cy="1316736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</p:sp>
      <p:sp>
        <p:nvSpPr>
          <p:cNvPr id="26" name="Text 26"/>
          <p:cNvSpPr txBox="1"/>
          <p:nvPr/>
        </p:nvSpPr>
        <p:spPr>
          <a:xfrm>
            <a:off x="4626864" y="3575304"/>
            <a:ext cx="3072384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700" b="1" i="0">
                <a:solidFill>
                  <a:srgbClr val="0A1929"/>
                </a:solidFill>
                <a:latin typeface="Aptos"/>
              </a:rPr>
              <a:t>Training &amp; shadowing</a:t>
            </a:r>
            <a:endParaRPr lang="en-US" sz="1700"/>
          </a:p>
        </p:txBody>
      </p:sp>
      <p:sp>
        <p:nvSpPr>
          <p:cNvPr id="27" name="Text 27"/>
          <p:cNvSpPr txBox="1"/>
          <p:nvPr/>
        </p:nvSpPr>
        <p:spPr>
          <a:xfrm>
            <a:off x="4626864" y="4041648"/>
            <a:ext cx="3072384" cy="557784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lang="en-US" sz="1300" b="0" i="0">
                <a:solidFill>
                  <a:srgbClr val="61758B"/>
                </a:solidFill>
                <a:latin typeface="Aptos"/>
              </a:rPr>
              <a:t>Routes cover training modules, assignments and shadow assignments.</a:t>
            </a:r>
            <a:endParaRPr lang="en-US" sz="1300"/>
          </a:p>
        </p:txBody>
      </p:sp>
      <p:sp>
        <p:nvSpPr>
          <p:cNvPr id="28" name="Shape 28"/>
          <p:cNvSpPr/>
          <p:nvPr/>
        </p:nvSpPr>
        <p:spPr>
          <a:xfrm>
            <a:off x="8193024" y="3419856"/>
            <a:ext cx="3456432" cy="13167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</a:ln>
        </p:spPr>
      </p:sp>
      <p:sp>
        <p:nvSpPr>
          <p:cNvPr id="29" name="Shape 29"/>
          <p:cNvSpPr/>
          <p:nvPr/>
        </p:nvSpPr>
        <p:spPr>
          <a:xfrm>
            <a:off x="8193024" y="3419856"/>
            <a:ext cx="64008" cy="1316736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30" name="Text 30"/>
          <p:cNvSpPr txBox="1"/>
          <p:nvPr/>
        </p:nvSpPr>
        <p:spPr>
          <a:xfrm>
            <a:off x="8394192" y="3575304"/>
            <a:ext cx="3072384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700" b="1" i="0">
                <a:solidFill>
                  <a:srgbClr val="0A1929"/>
                </a:solidFill>
                <a:latin typeface="Aptos"/>
              </a:rPr>
              <a:t>Readiness &amp; provisioning</a:t>
            </a:r>
            <a:endParaRPr lang="en-US" sz="1700"/>
          </a:p>
        </p:txBody>
      </p:sp>
      <p:sp>
        <p:nvSpPr>
          <p:cNvPr id="31" name="Text 31"/>
          <p:cNvSpPr txBox="1"/>
          <p:nvPr/>
        </p:nvSpPr>
        <p:spPr>
          <a:xfrm>
            <a:off x="8394192" y="4041648"/>
            <a:ext cx="3072384" cy="557784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lang="en-US" sz="1300" b="0" i="0">
                <a:solidFill>
                  <a:srgbClr val="61758B"/>
                </a:solidFill>
                <a:latin typeface="Aptos"/>
              </a:rPr>
              <a:t>Routes cover readiness assessments and access provisioning.</a:t>
            </a:r>
            <a:endParaRPr lang="en-US" sz="1300"/>
          </a:p>
        </p:txBody>
      </p:sp>
      <p:sp>
        <p:nvSpPr>
          <p:cNvPr id="32" name="Text 32"/>
          <p:cNvSpPr txBox="1"/>
          <p:nvPr/>
        </p:nvSpPr>
        <p:spPr>
          <a:xfrm>
            <a:off x="749808" y="5248656"/>
            <a:ext cx="10515600" cy="4846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100" b="0" i="0">
                <a:solidFill>
                  <a:srgbClr val="61758B"/>
                </a:solidFill>
                <a:latin typeface="Aptos"/>
              </a:rPr>
              <a:t>The exact workflow depends on the enabled screens, user role and deployment configuration.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3504" y="292608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000" b="1" i="0">
                <a:solidFill>
                  <a:srgbClr val="1565C0"/>
                </a:solidFill>
                <a:latin typeface="Aptos"/>
              </a:rPr>
              <a:t>06  /  AI-ASSISTED TOOLS</a:t>
            </a:r>
            <a:endParaRPr lang="en-US" sz="1000"/>
          </a:p>
        </p:txBody>
      </p:sp>
      <p:sp>
        <p:nvSpPr>
          <p:cNvPr id="3" name="Text 3"/>
          <p:cNvSpPr txBox="1"/>
          <p:nvPr/>
        </p:nvSpPr>
        <p:spPr>
          <a:xfrm>
            <a:off x="603504" y="621792"/>
            <a:ext cx="10972800" cy="49377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2700" b="1" i="0">
                <a:solidFill>
                  <a:srgbClr val="0A1929"/>
                </a:solidFill>
                <a:latin typeface="Aptos"/>
              </a:rPr>
              <a:t>Put AI alongside the human workflow</a:t>
            </a:r>
            <a:endParaRPr lang="en-US" sz="2700"/>
          </a:p>
        </p:txBody>
      </p:sp>
      <p:sp>
        <p:nvSpPr>
          <p:cNvPr id="4" name="Text 4"/>
          <p:cNvSpPr txBox="1"/>
          <p:nvPr/>
        </p:nvSpPr>
        <p:spPr>
          <a:xfrm>
            <a:off x="603504" y="1170432"/>
            <a:ext cx="109728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400" b="0" i="0">
                <a:solidFill>
                  <a:srgbClr val="61758B"/>
                </a:solidFill>
                <a:latin typeface="Aptos"/>
              </a:rPr>
              <a:t>The codebase includes multiple AI entry points; outputs are designed to support users, not replace their judgment.</a:t>
            </a:r>
            <a:endParaRPr lang="en-US" sz="1400"/>
          </a:p>
        </p:txBody>
      </p:sp>
      <p:sp>
        <p:nvSpPr>
          <p:cNvPr id="5" name="Shape 5"/>
          <p:cNvSpPr/>
          <p:nvPr/>
        </p:nvSpPr>
        <p:spPr>
          <a:xfrm>
            <a:off x="603504" y="6473952"/>
            <a:ext cx="10972800" cy="10973"/>
          </a:xfrm>
          <a:prstGeom prst="rect">
            <a:avLst/>
          </a:prstGeom>
          <a:solidFill>
            <a:srgbClr val="DCE5EF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603504" y="6510528"/>
            <a:ext cx="9144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800" b="1" i="0">
                <a:solidFill>
                  <a:srgbClr val="61758B"/>
                </a:solidFill>
                <a:latin typeface="Aptos"/>
              </a:rPr>
              <a:t>SAP AMS  ?  PRODUCT OVERVIEW</a:t>
            </a:r>
            <a:endParaRPr lang="en-US" sz="800"/>
          </a:p>
        </p:txBody>
      </p:sp>
      <p:sp>
        <p:nvSpPr>
          <p:cNvPr id="7" name="Text 7"/>
          <p:cNvSpPr txBox="1"/>
          <p:nvPr/>
        </p:nvSpPr>
        <p:spPr>
          <a:xfrm>
            <a:off x="11064240" y="6492240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r"/>
            <a:r>
              <a:rPr lang="en-US" sz="900" b="1" i="0">
                <a:solidFill>
                  <a:srgbClr val="61758B"/>
                </a:solidFill>
                <a:latin typeface="Aptos"/>
              </a:rPr>
              <a:t>07</a:t>
            </a:r>
            <a:endParaRPr lang="en-US" sz="900"/>
          </a:p>
        </p:txBody>
      </p:sp>
      <p:sp>
        <p:nvSpPr>
          <p:cNvPr id="8" name="Shape 8"/>
          <p:cNvSpPr/>
          <p:nvPr/>
        </p:nvSpPr>
        <p:spPr>
          <a:xfrm>
            <a:off x="658368" y="1892808"/>
            <a:ext cx="327355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</a:ln>
        </p:spPr>
      </p:sp>
      <p:sp>
        <p:nvSpPr>
          <p:cNvPr id="9" name="Shape 9"/>
          <p:cNvSpPr/>
          <p:nvPr/>
        </p:nvSpPr>
        <p:spPr>
          <a:xfrm>
            <a:off x="658368" y="1892808"/>
            <a:ext cx="64008" cy="233172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859536" y="2048256"/>
            <a:ext cx="2889504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700" b="1" i="0">
                <a:solidFill>
                  <a:srgbClr val="0A1929"/>
                </a:solidFill>
                <a:latin typeface="Aptos"/>
              </a:rPr>
              <a:t>AI search</a:t>
            </a:r>
            <a:endParaRPr lang="en-US" sz="1700"/>
          </a:p>
        </p:txBody>
      </p:sp>
      <p:sp>
        <p:nvSpPr>
          <p:cNvPr id="11" name="Text 11"/>
          <p:cNvSpPr txBox="1"/>
          <p:nvPr/>
        </p:nvSpPr>
        <p:spPr>
          <a:xfrm>
            <a:off x="859536" y="2514600"/>
            <a:ext cx="2889504" cy="157276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lang="en-US" sz="1400" b="0" i="0">
                <a:solidFill>
                  <a:srgbClr val="61758B"/>
                </a:solidFill>
                <a:latin typeface="Aptos"/>
              </a:rPr>
              <a:t>Search across knowledge using the AI-search experience.</a:t>
            </a:r>
            <a:endParaRPr lang="en-US" sz="1400"/>
          </a:p>
        </p:txBody>
      </p:sp>
      <p:sp>
        <p:nvSpPr>
          <p:cNvPr id="12" name="Shape 12"/>
          <p:cNvSpPr/>
          <p:nvPr/>
        </p:nvSpPr>
        <p:spPr>
          <a:xfrm>
            <a:off x="4453128" y="1892808"/>
            <a:ext cx="327355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</a:ln>
        </p:spPr>
      </p:sp>
      <p:sp>
        <p:nvSpPr>
          <p:cNvPr id="13" name="Shape 13"/>
          <p:cNvSpPr/>
          <p:nvPr/>
        </p:nvSpPr>
        <p:spPr>
          <a:xfrm>
            <a:off x="4453128" y="1892808"/>
            <a:ext cx="64008" cy="2331720"/>
          </a:xfrm>
          <a:prstGeom prst="roundRect">
            <a:avLst/>
          </a:prstGeom>
          <a:solidFill>
            <a:srgbClr val="6A4BC3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4654296" y="2048256"/>
            <a:ext cx="2889504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700" b="1" i="0">
                <a:solidFill>
                  <a:srgbClr val="0A1929"/>
                </a:solidFill>
                <a:latin typeface="Aptos"/>
              </a:rPr>
              <a:t>ResumeIQ</a:t>
            </a:r>
            <a:endParaRPr lang="en-US" sz="1700"/>
          </a:p>
        </p:txBody>
      </p:sp>
      <p:sp>
        <p:nvSpPr>
          <p:cNvPr id="15" name="Text 15"/>
          <p:cNvSpPr txBox="1"/>
          <p:nvPr/>
        </p:nvSpPr>
        <p:spPr>
          <a:xfrm>
            <a:off x="4654296" y="2514600"/>
            <a:ext cx="2889504" cy="157276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lang="en-US" sz="1400" b="0" i="0">
                <a:solidFill>
                  <a:srgbClr val="61758B"/>
                </a:solidFill>
                <a:latin typeface="Aptos"/>
              </a:rPr>
              <a:t>Compare a resume with a job description; review an overall match and experience, skills and education breakdowns.</a:t>
            </a:r>
            <a:endParaRPr lang="en-US" sz="1400"/>
          </a:p>
        </p:txBody>
      </p:sp>
      <p:sp>
        <p:nvSpPr>
          <p:cNvPr id="16" name="Shape 16"/>
          <p:cNvSpPr/>
          <p:nvPr/>
        </p:nvSpPr>
        <p:spPr>
          <a:xfrm>
            <a:off x="8247888" y="1892808"/>
            <a:ext cx="327355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</a:ln>
        </p:spPr>
      </p:sp>
      <p:sp>
        <p:nvSpPr>
          <p:cNvPr id="17" name="Shape 17"/>
          <p:cNvSpPr/>
          <p:nvPr/>
        </p:nvSpPr>
        <p:spPr>
          <a:xfrm>
            <a:off x="8247888" y="1892808"/>
            <a:ext cx="64008" cy="23317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8449056" y="2048256"/>
            <a:ext cx="2889504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700" b="1" i="0">
                <a:solidFill>
                  <a:srgbClr val="0A1929"/>
                </a:solidFill>
                <a:latin typeface="Aptos"/>
              </a:rPr>
              <a:t>AI assistant &amp; review</a:t>
            </a:r>
            <a:endParaRPr lang="en-US" sz="1700"/>
          </a:p>
        </p:txBody>
      </p:sp>
      <p:sp>
        <p:nvSpPr>
          <p:cNvPr id="19" name="Text 19"/>
          <p:cNvSpPr txBox="1"/>
          <p:nvPr/>
        </p:nvSpPr>
        <p:spPr>
          <a:xfrm>
            <a:off x="8449056" y="2514600"/>
            <a:ext cx="2889504" cy="157276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lang="en-US" sz="1400" b="0" i="0">
                <a:solidFill>
                  <a:srgbClr val="61758B"/>
                </a:solidFill>
                <a:latin typeface="Aptos"/>
              </a:rPr>
              <a:t>An in-app AI bot and article AI-review endpoints provide additional assistance.</a:t>
            </a:r>
            <a:endParaRPr lang="en-US" sz="1400"/>
          </a:p>
        </p:txBody>
      </p:sp>
      <p:sp>
        <p:nvSpPr>
          <p:cNvPr id="20" name="Shape 20"/>
          <p:cNvSpPr/>
          <p:nvPr/>
        </p:nvSpPr>
        <p:spPr>
          <a:xfrm>
            <a:off x="658368" y="4645152"/>
            <a:ext cx="10954512" cy="877824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896112" y="4773168"/>
            <a:ext cx="1046988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ctr"/>
            <a:r>
              <a:rPr lang="en-US" sz="1300" b="1" i="0">
                <a:solidFill>
                  <a:srgbClr val="E65100"/>
                </a:solidFill>
                <a:latin typeface="Aptos"/>
              </a:rPr>
              <a:t>ResumeIQ includes matched/missing skills, recommendations and an exportable HTML report. Hiring decisions remain with a qualified person.</a:t>
            </a:r>
            <a:endParaRPr lang="en-US" sz="1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3504" y="292608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000" b="1" i="0">
                <a:solidFill>
                  <a:srgbClr val="1565C0"/>
                </a:solidFill>
                <a:latin typeface="Aptos"/>
              </a:rPr>
              <a:t>07  /  ADMINISTRATION</a:t>
            </a:r>
            <a:endParaRPr lang="en-US" sz="1000"/>
          </a:p>
        </p:txBody>
      </p:sp>
      <p:sp>
        <p:nvSpPr>
          <p:cNvPr id="3" name="Text 3"/>
          <p:cNvSpPr txBox="1"/>
          <p:nvPr/>
        </p:nvSpPr>
        <p:spPr>
          <a:xfrm>
            <a:off x="603504" y="621792"/>
            <a:ext cx="10972800" cy="49377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2700" b="1" i="0">
                <a:solidFill>
                  <a:srgbClr val="0A1929"/>
                </a:solidFill>
                <a:latin typeface="Aptos"/>
              </a:rPr>
              <a:t>Tools for managing access and shared structure</a:t>
            </a:r>
            <a:endParaRPr lang="en-US" sz="2700"/>
          </a:p>
        </p:txBody>
      </p:sp>
      <p:sp>
        <p:nvSpPr>
          <p:cNvPr id="4" name="Text 4"/>
          <p:cNvSpPr txBox="1"/>
          <p:nvPr/>
        </p:nvSpPr>
        <p:spPr>
          <a:xfrm>
            <a:off x="603504" y="1170432"/>
            <a:ext cx="109728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400" b="0" i="0">
                <a:solidFill>
                  <a:srgbClr val="61758B"/>
                </a:solidFill>
                <a:latin typeface="Aptos"/>
              </a:rPr>
              <a:t>Admin navigation is role-gated in the client; the app defines role-aware surfaces and controls.</a:t>
            </a:r>
            <a:endParaRPr lang="en-US" sz="1400"/>
          </a:p>
        </p:txBody>
      </p:sp>
      <p:sp>
        <p:nvSpPr>
          <p:cNvPr id="5" name="Shape 5"/>
          <p:cNvSpPr/>
          <p:nvPr/>
        </p:nvSpPr>
        <p:spPr>
          <a:xfrm>
            <a:off x="603504" y="6473952"/>
            <a:ext cx="10972800" cy="10973"/>
          </a:xfrm>
          <a:prstGeom prst="rect">
            <a:avLst/>
          </a:prstGeom>
          <a:solidFill>
            <a:srgbClr val="DCE5EF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603504" y="6510528"/>
            <a:ext cx="9144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800" b="1" i="0">
                <a:solidFill>
                  <a:srgbClr val="61758B"/>
                </a:solidFill>
                <a:latin typeface="Aptos"/>
              </a:rPr>
              <a:t>SAP AMS  ?  PRODUCT OVERVIEW</a:t>
            </a:r>
            <a:endParaRPr lang="en-US" sz="800"/>
          </a:p>
        </p:txBody>
      </p:sp>
      <p:sp>
        <p:nvSpPr>
          <p:cNvPr id="7" name="Text 7"/>
          <p:cNvSpPr txBox="1"/>
          <p:nvPr/>
        </p:nvSpPr>
        <p:spPr>
          <a:xfrm>
            <a:off x="11064240" y="6492240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r"/>
            <a:r>
              <a:rPr lang="en-US" sz="900" b="1" i="0">
                <a:solidFill>
                  <a:srgbClr val="61758B"/>
                </a:solidFill>
                <a:latin typeface="Aptos"/>
              </a:rPr>
              <a:t>08</a:t>
            </a:r>
            <a:endParaRPr lang="en-US" sz="900"/>
          </a:p>
        </p:txBody>
      </p:sp>
      <p:sp>
        <p:nvSpPr>
          <p:cNvPr id="8" name="Shape 8"/>
          <p:cNvSpPr/>
          <p:nvPr/>
        </p:nvSpPr>
        <p:spPr>
          <a:xfrm>
            <a:off x="658368" y="1856232"/>
            <a:ext cx="5230368" cy="3419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</a:ln>
        </p:spPr>
      </p:sp>
      <p:sp>
        <p:nvSpPr>
          <p:cNvPr id="9" name="Text 9"/>
          <p:cNvSpPr txBox="1"/>
          <p:nvPr/>
        </p:nvSpPr>
        <p:spPr>
          <a:xfrm>
            <a:off x="896112" y="2075688"/>
            <a:ext cx="4572000" cy="3931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800" b="1" i="0">
                <a:solidFill>
                  <a:srgbClr val="0A1929"/>
                </a:solidFill>
                <a:latin typeface="Aptos"/>
              </a:rPr>
              <a:t>Role-aware experience</a:t>
            </a:r>
            <a:endParaRPr lang="en-US" sz="1800"/>
          </a:p>
        </p:txBody>
      </p:sp>
      <p:sp>
        <p:nvSpPr>
          <p:cNvPr id="10" name="Shape 10"/>
          <p:cNvSpPr/>
          <p:nvPr/>
        </p:nvSpPr>
        <p:spPr>
          <a:xfrm>
            <a:off x="896112" y="2697480"/>
            <a:ext cx="2176272" cy="502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1005840" y="2761488"/>
            <a:ext cx="1947672" cy="3566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300" b="1" i="0">
                <a:solidFill>
                  <a:srgbClr val="203247"/>
                </a:solidFill>
                <a:latin typeface="Aptos"/>
              </a:rPr>
              <a:t>Admin</a:t>
            </a:r>
            <a:endParaRPr lang="en-US" sz="1300"/>
          </a:p>
        </p:txBody>
      </p:sp>
      <p:sp>
        <p:nvSpPr>
          <p:cNvPr id="12" name="Shape 12"/>
          <p:cNvSpPr/>
          <p:nvPr/>
        </p:nvSpPr>
        <p:spPr>
          <a:xfrm>
            <a:off x="3319272" y="2697480"/>
            <a:ext cx="2176272" cy="502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3429000" y="2761488"/>
            <a:ext cx="1947672" cy="3566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300" b="1" i="0">
                <a:solidFill>
                  <a:srgbClr val="203247"/>
                </a:solidFill>
                <a:latin typeface="Aptos"/>
              </a:rPr>
              <a:t>Team Lead</a:t>
            </a:r>
            <a:endParaRPr lang="en-US" sz="1300"/>
          </a:p>
        </p:txBody>
      </p:sp>
      <p:sp>
        <p:nvSpPr>
          <p:cNvPr id="14" name="Shape 14"/>
          <p:cNvSpPr/>
          <p:nvPr/>
        </p:nvSpPr>
        <p:spPr>
          <a:xfrm>
            <a:off x="896112" y="3410712"/>
            <a:ext cx="2176272" cy="502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1005840" y="3474720"/>
            <a:ext cx="1947672" cy="3566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300" b="1" i="0">
                <a:solidFill>
                  <a:srgbClr val="203247"/>
                </a:solidFill>
                <a:latin typeface="Aptos"/>
              </a:rPr>
              <a:t>Expert</a:t>
            </a:r>
            <a:endParaRPr lang="en-US" sz="1300"/>
          </a:p>
        </p:txBody>
      </p:sp>
      <p:sp>
        <p:nvSpPr>
          <p:cNvPr id="16" name="Shape 16"/>
          <p:cNvSpPr/>
          <p:nvPr/>
        </p:nvSpPr>
        <p:spPr>
          <a:xfrm>
            <a:off x="3319272" y="3410712"/>
            <a:ext cx="2176272" cy="502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3429000" y="3474720"/>
            <a:ext cx="1947672" cy="3566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300" b="1" i="0">
                <a:solidFill>
                  <a:srgbClr val="203247"/>
                </a:solidFill>
                <a:latin typeface="Aptos"/>
              </a:rPr>
              <a:t>L2 Support</a:t>
            </a:r>
            <a:endParaRPr lang="en-US" sz="1300"/>
          </a:p>
        </p:txBody>
      </p:sp>
      <p:sp>
        <p:nvSpPr>
          <p:cNvPr id="18" name="Shape 18"/>
          <p:cNvSpPr/>
          <p:nvPr/>
        </p:nvSpPr>
        <p:spPr>
          <a:xfrm>
            <a:off x="896112" y="4123944"/>
            <a:ext cx="2176272" cy="502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1005840" y="4187952"/>
            <a:ext cx="1947672" cy="3566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300" b="1" i="0">
                <a:solidFill>
                  <a:srgbClr val="203247"/>
                </a:solidFill>
                <a:latin typeface="Aptos"/>
              </a:rPr>
              <a:t>L1 Support</a:t>
            </a:r>
            <a:endParaRPr lang="en-US" sz="1300"/>
          </a:p>
        </p:txBody>
      </p:sp>
      <p:sp>
        <p:nvSpPr>
          <p:cNvPr id="20" name="Shape 20"/>
          <p:cNvSpPr/>
          <p:nvPr/>
        </p:nvSpPr>
        <p:spPr>
          <a:xfrm>
            <a:off x="3319272" y="4123944"/>
            <a:ext cx="2176272" cy="502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3429000" y="4187952"/>
            <a:ext cx="1947672" cy="3566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300" b="1" i="0">
                <a:solidFill>
                  <a:srgbClr val="203247"/>
                </a:solidFill>
                <a:latin typeface="Aptos"/>
              </a:rPr>
              <a:t>Employee</a:t>
            </a:r>
            <a:endParaRPr lang="en-US" sz="1300"/>
          </a:p>
        </p:txBody>
      </p:sp>
      <p:sp>
        <p:nvSpPr>
          <p:cNvPr id="22" name="Text 22"/>
          <p:cNvSpPr txBox="1"/>
          <p:nvPr/>
        </p:nvSpPr>
        <p:spPr>
          <a:xfrm>
            <a:off x="896112" y="4901184"/>
            <a:ext cx="46177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000" b="0" i="0">
                <a:solidFill>
                  <a:srgbClr val="61758B"/>
                </a:solidFill>
                <a:latin typeface="Aptos"/>
              </a:rPr>
              <a:t>Navigation and actions can vary by assigned role.</a:t>
            </a:r>
            <a:endParaRPr lang="en-US" sz="1000"/>
          </a:p>
        </p:txBody>
      </p:sp>
      <p:sp>
        <p:nvSpPr>
          <p:cNvPr id="23" name="Shape 23"/>
          <p:cNvSpPr/>
          <p:nvPr/>
        </p:nvSpPr>
        <p:spPr>
          <a:xfrm>
            <a:off x="6144768" y="1856232"/>
            <a:ext cx="5468112" cy="3419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</a:ln>
        </p:spPr>
      </p:sp>
      <p:sp>
        <p:nvSpPr>
          <p:cNvPr id="24" name="Text 24"/>
          <p:cNvSpPr txBox="1"/>
          <p:nvPr/>
        </p:nvSpPr>
        <p:spPr>
          <a:xfrm>
            <a:off x="6382512" y="2075688"/>
            <a:ext cx="4846320" cy="3931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800" b="1" i="0">
                <a:solidFill>
                  <a:srgbClr val="0A1929"/>
                </a:solidFill>
                <a:latin typeface="Aptos"/>
              </a:rPr>
              <a:t>Admin capabilities</a:t>
            </a:r>
            <a:endParaRPr lang="en-US" sz="1800"/>
          </a:p>
        </p:txBody>
      </p:sp>
      <p:sp>
        <p:nvSpPr>
          <p:cNvPr id="25" name="Shape 25"/>
          <p:cNvSpPr/>
          <p:nvPr/>
        </p:nvSpPr>
        <p:spPr>
          <a:xfrm>
            <a:off x="6400800" y="2807208"/>
            <a:ext cx="109728" cy="109728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26" name="Text 26"/>
          <p:cNvSpPr txBox="1"/>
          <p:nvPr/>
        </p:nvSpPr>
        <p:spPr>
          <a:xfrm>
            <a:off x="6656832" y="2706624"/>
            <a:ext cx="4389120" cy="33832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300" b="0" i="0">
                <a:solidFill>
                  <a:srgbClr val="203247"/>
                </a:solidFill>
                <a:latin typeface="Aptos"/>
              </a:rPr>
              <a:t>User and article requests</a:t>
            </a:r>
            <a:endParaRPr lang="en-US" sz="1300"/>
          </a:p>
        </p:txBody>
      </p:sp>
      <p:sp>
        <p:nvSpPr>
          <p:cNvPr id="27" name="Shape 27"/>
          <p:cNvSpPr/>
          <p:nvPr/>
        </p:nvSpPr>
        <p:spPr>
          <a:xfrm>
            <a:off x="6400800" y="3282696"/>
            <a:ext cx="109728" cy="109728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28" name="Text 28"/>
          <p:cNvSpPr txBox="1"/>
          <p:nvPr/>
        </p:nvSpPr>
        <p:spPr>
          <a:xfrm>
            <a:off x="6656832" y="3182112"/>
            <a:ext cx="4389120" cy="33832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300" b="0" i="0">
                <a:solidFill>
                  <a:srgbClr val="203247"/>
                </a:solidFill>
                <a:latin typeface="Aptos"/>
              </a:rPr>
              <a:t>Role and tag management</a:t>
            </a:r>
            <a:endParaRPr lang="en-US" sz="1300"/>
          </a:p>
        </p:txBody>
      </p:sp>
      <p:sp>
        <p:nvSpPr>
          <p:cNvPr id="29" name="Shape 29"/>
          <p:cNvSpPr/>
          <p:nvPr/>
        </p:nvSpPr>
        <p:spPr>
          <a:xfrm>
            <a:off x="6400800" y="3758184"/>
            <a:ext cx="109728" cy="109728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30" name="Text 30"/>
          <p:cNvSpPr txBox="1"/>
          <p:nvPr/>
        </p:nvSpPr>
        <p:spPr>
          <a:xfrm>
            <a:off x="6656832" y="3657600"/>
            <a:ext cx="4389120" cy="33832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300" b="0" i="0">
                <a:solidFill>
                  <a:srgbClr val="203247"/>
                </a:solidFill>
                <a:latin typeface="Aptos"/>
              </a:rPr>
              <a:t>Support teams</a:t>
            </a:r>
            <a:endParaRPr lang="en-US" sz="1300"/>
          </a:p>
        </p:txBody>
      </p:sp>
      <p:sp>
        <p:nvSpPr>
          <p:cNvPr id="31" name="Shape 31"/>
          <p:cNvSpPr/>
          <p:nvPr/>
        </p:nvSpPr>
        <p:spPr>
          <a:xfrm>
            <a:off x="6400800" y="4233672"/>
            <a:ext cx="109728" cy="109728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32" name="Text 32"/>
          <p:cNvSpPr txBox="1"/>
          <p:nvPr/>
        </p:nvSpPr>
        <p:spPr>
          <a:xfrm>
            <a:off x="6656832" y="4133088"/>
            <a:ext cx="4389120" cy="33832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300" b="0" i="0">
                <a:solidFill>
                  <a:srgbClr val="203247"/>
                </a:solidFill>
                <a:latin typeface="Aptos"/>
              </a:rPr>
              <a:t>Phone directory</a:t>
            </a:r>
            <a:endParaRPr lang="en-US" sz="1300"/>
          </a:p>
        </p:txBody>
      </p:sp>
      <p:sp>
        <p:nvSpPr>
          <p:cNvPr id="33" name="Shape 33"/>
          <p:cNvSpPr/>
          <p:nvPr/>
        </p:nvSpPr>
        <p:spPr>
          <a:xfrm>
            <a:off x="6400800" y="4709160"/>
            <a:ext cx="109728" cy="109728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34" name="Text 34"/>
          <p:cNvSpPr txBox="1"/>
          <p:nvPr/>
        </p:nvSpPr>
        <p:spPr>
          <a:xfrm>
            <a:off x="6656832" y="4608576"/>
            <a:ext cx="4389120" cy="33832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300" b="0" i="0">
                <a:solidFill>
                  <a:srgbClr val="203247"/>
                </a:solidFill>
                <a:latin typeface="Aptos"/>
              </a:rPr>
              <a:t>Certification administration</a:t>
            </a:r>
            <a:endParaRPr lang="en-US" sz="1300"/>
          </a:p>
        </p:txBody>
      </p:sp>
      <p:sp>
        <p:nvSpPr>
          <p:cNvPr id="35" name="Text 35"/>
          <p:cNvSpPr txBox="1"/>
          <p:nvPr/>
        </p:nvSpPr>
        <p:spPr>
          <a:xfrm>
            <a:off x="749808" y="5559552"/>
            <a:ext cx="105156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100" b="0" i="0">
                <a:solidFill>
                  <a:srgbClr val="61758B"/>
                </a:solidFill>
                <a:latin typeface="Aptos"/>
              </a:rPr>
              <a:t>Actual permissions and access depend on application configuration and assigned roles.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3504" y="292608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000" b="1" i="0">
                <a:solidFill>
                  <a:srgbClr val="1565C0"/>
                </a:solidFill>
                <a:latin typeface="Aptos"/>
              </a:rPr>
              <a:t>08  /  HOW IT WORKS</a:t>
            </a:r>
            <a:endParaRPr lang="en-US" sz="1000"/>
          </a:p>
        </p:txBody>
      </p:sp>
      <p:sp>
        <p:nvSpPr>
          <p:cNvPr id="3" name="Text 3"/>
          <p:cNvSpPr txBox="1"/>
          <p:nvPr/>
        </p:nvSpPr>
        <p:spPr>
          <a:xfrm>
            <a:off x="603504" y="621792"/>
            <a:ext cx="10972800" cy="49377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2700" b="1" i="0">
                <a:solidFill>
                  <a:srgbClr val="0A1929"/>
                </a:solidFill>
                <a:latin typeface="Aptos"/>
              </a:rPr>
              <a:t>A React web app backed by an Express API</a:t>
            </a:r>
            <a:endParaRPr lang="en-US" sz="2700"/>
          </a:p>
        </p:txBody>
      </p:sp>
      <p:sp>
        <p:nvSpPr>
          <p:cNvPr id="4" name="Text 4"/>
          <p:cNvSpPr txBox="1"/>
          <p:nvPr/>
        </p:nvSpPr>
        <p:spPr>
          <a:xfrm>
            <a:off x="603504" y="1170432"/>
            <a:ext cx="109728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400" b="0" i="0">
                <a:solidFill>
                  <a:srgbClr val="61758B"/>
                </a:solidFill>
                <a:latin typeface="Aptos"/>
              </a:rPr>
              <a:t>The client and server are organized as separate application folders within the same repository.</a:t>
            </a:r>
            <a:endParaRPr lang="en-US" sz="1400"/>
          </a:p>
        </p:txBody>
      </p:sp>
      <p:sp>
        <p:nvSpPr>
          <p:cNvPr id="5" name="Shape 5"/>
          <p:cNvSpPr/>
          <p:nvPr/>
        </p:nvSpPr>
        <p:spPr>
          <a:xfrm>
            <a:off x="603504" y="6473952"/>
            <a:ext cx="10972800" cy="10973"/>
          </a:xfrm>
          <a:prstGeom prst="rect">
            <a:avLst/>
          </a:prstGeom>
          <a:solidFill>
            <a:srgbClr val="DCE5EF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603504" y="6510528"/>
            <a:ext cx="9144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800" b="1" i="0">
                <a:solidFill>
                  <a:srgbClr val="61758B"/>
                </a:solidFill>
                <a:latin typeface="Aptos"/>
              </a:rPr>
              <a:t>SAP AMS  ?  PRODUCT OVERVIEW</a:t>
            </a:r>
            <a:endParaRPr lang="en-US" sz="800"/>
          </a:p>
        </p:txBody>
      </p:sp>
      <p:sp>
        <p:nvSpPr>
          <p:cNvPr id="7" name="Text 7"/>
          <p:cNvSpPr txBox="1"/>
          <p:nvPr/>
        </p:nvSpPr>
        <p:spPr>
          <a:xfrm>
            <a:off x="11064240" y="6492240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r"/>
            <a:r>
              <a:rPr lang="en-US" sz="900" b="1" i="0">
                <a:solidFill>
                  <a:srgbClr val="61758B"/>
                </a:solidFill>
                <a:latin typeface="Aptos"/>
              </a:rPr>
              <a:t>09</a:t>
            </a:r>
            <a:endParaRPr lang="en-US" sz="900"/>
          </a:p>
        </p:txBody>
      </p:sp>
      <p:sp>
        <p:nvSpPr>
          <p:cNvPr id="8" name="Shape 8"/>
          <p:cNvSpPr/>
          <p:nvPr/>
        </p:nvSpPr>
        <p:spPr>
          <a:xfrm>
            <a:off x="749808" y="1856232"/>
            <a:ext cx="6400800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</a:ln>
        </p:spPr>
      </p:sp>
      <p:sp>
        <p:nvSpPr>
          <p:cNvPr id="9" name="Shape 9"/>
          <p:cNvSpPr/>
          <p:nvPr/>
        </p:nvSpPr>
        <p:spPr>
          <a:xfrm>
            <a:off x="749808" y="1856232"/>
            <a:ext cx="109728" cy="768096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1024128" y="1938528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100" b="1" i="0">
                <a:solidFill>
                  <a:srgbClr val="1565C0"/>
                </a:solidFill>
                <a:latin typeface="Aptos"/>
              </a:rPr>
              <a:t>WEB CLIENT</a:t>
            </a:r>
            <a:endParaRPr lang="en-US" sz="1100"/>
          </a:p>
        </p:txBody>
      </p:sp>
      <p:sp>
        <p:nvSpPr>
          <p:cNvPr id="11" name="Text 11"/>
          <p:cNvSpPr txBox="1"/>
          <p:nvPr/>
        </p:nvSpPr>
        <p:spPr>
          <a:xfrm>
            <a:off x="2852928" y="1929384"/>
            <a:ext cx="39776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300" b="1" i="0">
                <a:solidFill>
                  <a:srgbClr val="203247"/>
                </a:solidFill>
                <a:latin typeface="Aptos"/>
              </a:rPr>
              <a:t>React 19 ? React Router ? Material UI</a:t>
            </a:r>
            <a:endParaRPr lang="en-US" sz="1300"/>
          </a:p>
        </p:txBody>
      </p:sp>
      <p:sp>
        <p:nvSpPr>
          <p:cNvPr id="12" name="Text 12"/>
          <p:cNvSpPr txBox="1"/>
          <p:nvPr/>
        </p:nvSpPr>
        <p:spPr>
          <a:xfrm>
            <a:off x="3657600" y="260604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ctr"/>
            <a:r>
              <a:rPr lang="en-US" sz="1400" b="1" i="0">
                <a:solidFill>
                  <a:srgbClr val="1565C0"/>
                </a:solidFill>
                <a:latin typeface="Aptos"/>
              </a:rPr>
              <a:t>?</a:t>
            </a:r>
            <a:endParaRPr lang="en-US" sz="1400"/>
          </a:p>
        </p:txBody>
      </p:sp>
      <p:sp>
        <p:nvSpPr>
          <p:cNvPr id="13" name="Shape 13"/>
          <p:cNvSpPr/>
          <p:nvPr/>
        </p:nvSpPr>
        <p:spPr>
          <a:xfrm>
            <a:off x="749808" y="2898648"/>
            <a:ext cx="6400800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</a:ln>
        </p:spPr>
      </p:sp>
      <p:sp>
        <p:nvSpPr>
          <p:cNvPr id="14" name="Shape 14"/>
          <p:cNvSpPr/>
          <p:nvPr/>
        </p:nvSpPr>
        <p:spPr>
          <a:xfrm>
            <a:off x="749808" y="2898648"/>
            <a:ext cx="109728" cy="768096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1024128" y="2980944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100" b="1" i="0">
                <a:solidFill>
                  <a:srgbClr val="2E7D32"/>
                </a:solidFill>
                <a:latin typeface="Aptos"/>
              </a:rPr>
              <a:t>API SERVER</a:t>
            </a:r>
            <a:endParaRPr lang="en-US" sz="1100"/>
          </a:p>
        </p:txBody>
      </p:sp>
      <p:sp>
        <p:nvSpPr>
          <p:cNvPr id="16" name="Text 16"/>
          <p:cNvSpPr txBox="1"/>
          <p:nvPr/>
        </p:nvSpPr>
        <p:spPr>
          <a:xfrm>
            <a:off x="2852928" y="2971800"/>
            <a:ext cx="39776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300" b="1" i="0">
                <a:solidFill>
                  <a:srgbClr val="203247"/>
                </a:solidFill>
                <a:latin typeface="Aptos"/>
              </a:rPr>
              <a:t>Express 5 ? JSON REST endpoints</a:t>
            </a:r>
            <a:endParaRPr lang="en-US" sz="1300"/>
          </a:p>
        </p:txBody>
      </p:sp>
      <p:sp>
        <p:nvSpPr>
          <p:cNvPr id="17" name="Text 17"/>
          <p:cNvSpPr txBox="1"/>
          <p:nvPr/>
        </p:nvSpPr>
        <p:spPr>
          <a:xfrm>
            <a:off x="3657600" y="3648456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ctr"/>
            <a:r>
              <a:rPr lang="en-US" sz="1400" b="1" i="0">
                <a:solidFill>
                  <a:srgbClr val="1565C0"/>
                </a:solidFill>
                <a:latin typeface="Aptos"/>
              </a:rPr>
              <a:t>?</a:t>
            </a:r>
            <a:endParaRPr lang="en-US" sz="1400"/>
          </a:p>
        </p:txBody>
      </p:sp>
      <p:sp>
        <p:nvSpPr>
          <p:cNvPr id="18" name="Shape 18"/>
          <p:cNvSpPr/>
          <p:nvPr/>
        </p:nvSpPr>
        <p:spPr>
          <a:xfrm>
            <a:off x="749808" y="3941064"/>
            <a:ext cx="6400800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</a:ln>
        </p:spPr>
      </p:sp>
      <p:sp>
        <p:nvSpPr>
          <p:cNvPr id="19" name="Shape 19"/>
          <p:cNvSpPr/>
          <p:nvPr/>
        </p:nvSpPr>
        <p:spPr>
          <a:xfrm>
            <a:off x="749808" y="3941064"/>
            <a:ext cx="109728" cy="768096"/>
          </a:xfrm>
          <a:prstGeom prst="roundRect">
            <a:avLst/>
          </a:prstGeom>
          <a:solidFill>
            <a:srgbClr val="6A4BC3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1024128" y="4023360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100" b="1" i="0">
                <a:solidFill>
                  <a:srgbClr val="6A4BC3"/>
                </a:solidFill>
                <a:latin typeface="Aptos"/>
              </a:rPr>
              <a:t>DATA &amp; SERVICES</a:t>
            </a:r>
            <a:endParaRPr lang="en-US" sz="1100"/>
          </a:p>
        </p:txBody>
      </p:sp>
      <p:sp>
        <p:nvSpPr>
          <p:cNvPr id="21" name="Text 21"/>
          <p:cNvSpPr txBox="1"/>
          <p:nvPr/>
        </p:nvSpPr>
        <p:spPr>
          <a:xfrm>
            <a:off x="2852928" y="4014216"/>
            <a:ext cx="39776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300" b="1" i="0">
                <a:solidFill>
                  <a:srgbClr val="203247"/>
                </a:solidFill>
                <a:latin typeface="Aptos"/>
              </a:rPr>
              <a:t>PostgreSQL driver ? JWT ? file parsing/uploads ? Google GenAI SDK</a:t>
            </a:r>
            <a:endParaRPr lang="en-US" sz="1300"/>
          </a:p>
        </p:txBody>
      </p:sp>
      <p:sp>
        <p:nvSpPr>
          <p:cNvPr id="22" name="Shape 22"/>
          <p:cNvSpPr/>
          <p:nvPr/>
        </p:nvSpPr>
        <p:spPr>
          <a:xfrm>
            <a:off x="7726680" y="1856232"/>
            <a:ext cx="3886200" cy="2852928"/>
          </a:xfrm>
          <a:prstGeom prst="roundRect">
            <a:avLst/>
          </a:prstGeom>
          <a:solidFill>
            <a:srgbClr val="0A1929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8028432" y="2139696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800" b="1" i="0">
                <a:solidFill>
                  <a:srgbClr val="FFFFFF"/>
                </a:solidFill>
                <a:latin typeface="Aptos"/>
              </a:rPr>
              <a:t>Request path</a:t>
            </a:r>
            <a:endParaRPr lang="en-US" sz="1800"/>
          </a:p>
        </p:txBody>
      </p:sp>
      <p:sp>
        <p:nvSpPr>
          <p:cNvPr id="24" name="Text 24"/>
          <p:cNvSpPr txBox="1"/>
          <p:nvPr/>
        </p:nvSpPr>
        <p:spPr>
          <a:xfrm>
            <a:off x="8028432" y="2743200"/>
            <a:ext cx="3246120" cy="33832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200" b="0" i="0">
                <a:solidFill>
                  <a:srgbClr val="D7E6F5"/>
                </a:solidFill>
                <a:latin typeface="Aptos"/>
              </a:rPr>
              <a:t>Authenticated client view</a:t>
            </a:r>
            <a:endParaRPr lang="en-US" sz="1200"/>
          </a:p>
        </p:txBody>
      </p:sp>
      <p:sp>
        <p:nvSpPr>
          <p:cNvPr id="25" name="Text 25"/>
          <p:cNvSpPr txBox="1"/>
          <p:nvPr/>
        </p:nvSpPr>
        <p:spPr>
          <a:xfrm>
            <a:off x="8028432" y="3191256"/>
            <a:ext cx="3246120" cy="33832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200" b="0" i="0">
                <a:solidFill>
                  <a:srgbClr val="D7E6F5"/>
                </a:solidFill>
                <a:latin typeface="Aptos"/>
              </a:rPr>
              <a:t>/api routes on the server</a:t>
            </a:r>
            <a:endParaRPr lang="en-US" sz="1200"/>
          </a:p>
        </p:txBody>
      </p:sp>
      <p:sp>
        <p:nvSpPr>
          <p:cNvPr id="26" name="Text 26"/>
          <p:cNvSpPr txBox="1"/>
          <p:nvPr/>
        </p:nvSpPr>
        <p:spPr>
          <a:xfrm>
            <a:off x="8028432" y="3639312"/>
            <a:ext cx="3246120" cy="33832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200" b="0" i="0">
                <a:solidFill>
                  <a:srgbClr val="D7E6F5"/>
                </a:solidFill>
                <a:latin typeface="Aptos"/>
              </a:rPr>
              <a:t>Feature routes ? controllers/services</a:t>
            </a:r>
            <a:endParaRPr lang="en-US" sz="1200"/>
          </a:p>
        </p:txBody>
      </p:sp>
      <p:sp>
        <p:nvSpPr>
          <p:cNvPr id="27" name="Text 27"/>
          <p:cNvSpPr txBox="1"/>
          <p:nvPr/>
        </p:nvSpPr>
        <p:spPr>
          <a:xfrm>
            <a:off x="8028432" y="4087368"/>
            <a:ext cx="3246120" cy="33832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200" b="0" i="0">
                <a:solidFill>
                  <a:srgbClr val="D7E6F5"/>
                </a:solidFill>
                <a:latin typeface="Aptos"/>
              </a:rPr>
              <a:t>Configured data &amp; AI integrations</a:t>
            </a:r>
            <a:endParaRPr lang="en-US" sz="1200"/>
          </a:p>
        </p:txBody>
      </p:sp>
      <p:sp>
        <p:nvSpPr>
          <p:cNvPr id="28" name="Text 28"/>
          <p:cNvSpPr txBox="1"/>
          <p:nvPr/>
        </p:nvSpPr>
        <p:spPr>
          <a:xfrm>
            <a:off x="777240" y="5422392"/>
            <a:ext cx="104241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100" b="0" i="0">
                <a:solidFill>
                  <a:srgbClr val="61758B"/>
                </a:solidFill>
                <a:latin typeface="Aptos"/>
              </a:rPr>
              <a:t>Deployment endpoints, credentials and provider settings are supplied through environment configuration.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>
      <p:nvSpPr>
        <p:cNvPr id="2" name="Shape 2"/>
        <p:cNvSpPr/>
        <p:nvPr/>
      </p:nvSpPr>
      <p:spPr>
        <a:xfrm>
          <a:off x="0" y="0"/>
          <a:ext cx="12191695" cy="6858000"/>
        </a:xfrm>
        <a:prstGeom prst="rect">
          <a:avLst/>
        </a:prstGeom>
        <a:solidFill>
          <a:srgbClr val="0A1929"/>
        </a:solidFill>
        <a:ln>
          <a:noFill/>
        </a:ln>
      </p:spPr>
    </p:sp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2A5F5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768096" y="56692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100" b="1" i="0">
                <a:solidFill>
                  <a:srgbClr val="42A5F5"/>
                </a:solidFill>
                <a:latin typeface="Aptos"/>
              </a:rPr>
              <a:t>SAP AMS  /  TAKEAWAY</a:t>
            </a:r>
            <a:endParaRPr lang="en-US" sz="1100"/>
          </a:p>
        </p:txBody>
      </p:sp>
      <p:sp>
        <p:nvSpPr>
          <p:cNvPr id="5" name="Text 5"/>
          <p:cNvSpPr txBox="1"/>
          <p:nvPr/>
        </p:nvSpPr>
        <p:spPr>
          <a:xfrm>
            <a:off x="768096" y="1060704"/>
            <a:ext cx="1069848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3000" b="1" i="0">
                <a:solidFill>
                  <a:srgbClr val="FFFFFF"/>
                </a:solidFill>
                <a:latin typeface="Aptos"/>
              </a:rPr>
              <a:t>One platform, connected work.</a:t>
            </a:r>
            <a:endParaRPr lang="en-US" sz="3000"/>
          </a:p>
        </p:txBody>
      </p:sp>
      <p:sp>
        <p:nvSpPr>
          <p:cNvPr id="6" name="Text 6"/>
          <p:cNvSpPr txBox="1"/>
          <p:nvPr/>
        </p:nvSpPr>
        <p:spPr>
          <a:xfrm>
            <a:off x="795528" y="1828800"/>
            <a:ext cx="98755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600" b="0" i="0">
                <a:solidFill>
                  <a:srgbClr val="D7E6F5"/>
                </a:solidFill>
                <a:latin typeface="Aptos"/>
              </a:rPr>
              <a:t>From finding guidance to coordinating support and transitions?with AI-assisted tools available along the way.</a:t>
            </a:r>
            <a:endParaRPr lang="en-US" sz="1600"/>
          </a:p>
        </p:txBody>
      </p:sp>
      <p:sp>
        <p:nvSpPr>
          <p:cNvPr id="7" name="Shape 7"/>
          <p:cNvSpPr/>
          <p:nvPr/>
        </p:nvSpPr>
        <p:spPr>
          <a:xfrm>
            <a:off x="786384" y="2971800"/>
            <a:ext cx="2523744" cy="1389888"/>
          </a:xfrm>
          <a:prstGeom prst="roundRect">
            <a:avLst/>
          </a:prstGeom>
          <a:solidFill>
            <a:srgbClr val="122B45"/>
          </a:solidFill>
          <a:ln w="12700">
            <a:solidFill>
              <a:srgbClr val="31506E"/>
            </a:solidFill>
          </a:ln>
        </p:spPr>
      </p:sp>
      <p:sp>
        <p:nvSpPr>
          <p:cNvPr id="8" name="Shape 8"/>
          <p:cNvSpPr/>
          <p:nvPr/>
        </p:nvSpPr>
        <p:spPr>
          <a:xfrm>
            <a:off x="969264" y="3154680"/>
            <a:ext cx="173736" cy="173736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1261872" y="3081528"/>
            <a:ext cx="18288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100" b="1" i="0">
                <a:solidFill>
                  <a:srgbClr val="1565C0"/>
                </a:solidFill>
                <a:latin typeface="Aptos"/>
              </a:rPr>
              <a:t>FIND</a:t>
            </a:r>
            <a:endParaRPr lang="en-US" sz="1100"/>
          </a:p>
        </p:txBody>
      </p:sp>
      <p:sp>
        <p:nvSpPr>
          <p:cNvPr id="10" name="Text 10"/>
          <p:cNvSpPr txBox="1"/>
          <p:nvPr/>
        </p:nvSpPr>
        <p:spPr>
          <a:xfrm>
            <a:off x="969264" y="3575304"/>
            <a:ext cx="2139696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>
            <a:normAutofit/>
          </a:bodyPr>
          <a:lstStyle/>
          <a:p>
            <a:pPr algn="l"/>
            <a:r>
              <a:rPr lang="en-US" sz="1500" b="1" i="0">
                <a:solidFill>
                  <a:srgbClr val="FFFFFF"/>
                </a:solidFill>
                <a:latin typeface="Aptos"/>
              </a:rPr>
              <a:t>Knowledge &amp; AI search</a:t>
            </a:r>
            <a:endParaRPr lang="en-US" sz="1500"/>
          </a:p>
        </p:txBody>
      </p:sp>
      <p:sp>
        <p:nvSpPr>
          <p:cNvPr id="11" name="Shape 11"/>
          <p:cNvSpPr/>
          <p:nvPr/>
        </p:nvSpPr>
        <p:spPr>
          <a:xfrm>
            <a:off x="3602736" y="2971800"/>
            <a:ext cx="2523744" cy="1389888"/>
          </a:xfrm>
          <a:prstGeom prst="roundRect">
            <a:avLst/>
          </a:prstGeom>
          <a:solidFill>
            <a:srgbClr val="122B45"/>
          </a:solidFill>
          <a:ln w="12700">
            <a:solidFill>
              <a:srgbClr val="31506E"/>
            </a:solidFill>
          </a:ln>
        </p:spPr>
      </p:sp>
      <p:sp>
        <p:nvSpPr>
          <p:cNvPr id="12" name="Shape 12"/>
          <p:cNvSpPr/>
          <p:nvPr/>
        </p:nvSpPr>
        <p:spPr>
          <a:xfrm>
            <a:off x="3785616" y="3154680"/>
            <a:ext cx="173736" cy="173736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4078224" y="3081528"/>
            <a:ext cx="18288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100" b="1" i="0">
                <a:solidFill>
                  <a:srgbClr val="2E7D32"/>
                </a:solidFill>
                <a:latin typeface="Aptos"/>
              </a:rPr>
              <a:t>HELP</a:t>
            </a:r>
            <a:endParaRPr lang="en-US" sz="1100"/>
          </a:p>
        </p:txBody>
      </p:sp>
      <p:sp>
        <p:nvSpPr>
          <p:cNvPr id="14" name="Text 14"/>
          <p:cNvSpPr txBox="1"/>
          <p:nvPr/>
        </p:nvSpPr>
        <p:spPr>
          <a:xfrm>
            <a:off x="3785616" y="3575304"/>
            <a:ext cx="2139696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>
            <a:normAutofit/>
          </a:bodyPr>
          <a:lstStyle/>
          <a:p>
            <a:pPr algn="l"/>
            <a:r>
              <a:rPr lang="en-US" sz="1500" b="1" i="0">
                <a:solidFill>
                  <a:srgbClr val="FFFFFF"/>
                </a:solidFill>
                <a:latin typeface="Aptos"/>
              </a:rPr>
              <a:t>Support &amp; collaboration</a:t>
            </a:r>
            <a:endParaRPr lang="en-US" sz="1500"/>
          </a:p>
        </p:txBody>
      </p:sp>
      <p:sp>
        <p:nvSpPr>
          <p:cNvPr id="15" name="Shape 15"/>
          <p:cNvSpPr/>
          <p:nvPr/>
        </p:nvSpPr>
        <p:spPr>
          <a:xfrm>
            <a:off x="6419088" y="2971800"/>
            <a:ext cx="2523744" cy="1389888"/>
          </a:xfrm>
          <a:prstGeom prst="roundRect">
            <a:avLst/>
          </a:prstGeom>
          <a:solidFill>
            <a:srgbClr val="122B45"/>
          </a:solidFill>
          <a:ln w="12700">
            <a:solidFill>
              <a:srgbClr val="31506E"/>
            </a:solidFill>
          </a:ln>
        </p:spPr>
      </p:sp>
      <p:sp>
        <p:nvSpPr>
          <p:cNvPr id="16" name="Shape 16"/>
          <p:cNvSpPr/>
          <p:nvPr/>
        </p:nvSpPr>
        <p:spPr>
          <a:xfrm>
            <a:off x="6601968" y="3154680"/>
            <a:ext cx="173736" cy="173736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6894576" y="3081528"/>
            <a:ext cx="18288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100" b="1" i="0">
                <a:solidFill>
                  <a:srgbClr val="E65100"/>
                </a:solidFill>
                <a:latin typeface="Aptos"/>
              </a:rPr>
              <a:t>HAND OFF</a:t>
            </a:r>
            <a:endParaRPr lang="en-US" sz="1100"/>
          </a:p>
        </p:txBody>
      </p:sp>
      <p:sp>
        <p:nvSpPr>
          <p:cNvPr id="18" name="Text 18"/>
          <p:cNvSpPr txBox="1"/>
          <p:nvPr/>
        </p:nvSpPr>
        <p:spPr>
          <a:xfrm>
            <a:off x="6601968" y="3575304"/>
            <a:ext cx="2139696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>
            <a:normAutofit/>
          </a:bodyPr>
          <a:lstStyle/>
          <a:p>
            <a:pPr algn="l"/>
            <a:r>
              <a:rPr lang="en-US" sz="1500" b="1" i="0">
                <a:solidFill>
                  <a:srgbClr val="FFFFFF"/>
                </a:solidFill>
                <a:latin typeface="Aptos"/>
              </a:rPr>
              <a:t>Transition readiness</a:t>
            </a:r>
            <a:endParaRPr lang="en-US" sz="1500"/>
          </a:p>
        </p:txBody>
      </p:sp>
      <p:sp>
        <p:nvSpPr>
          <p:cNvPr id="19" name="Shape 19"/>
          <p:cNvSpPr/>
          <p:nvPr/>
        </p:nvSpPr>
        <p:spPr>
          <a:xfrm>
            <a:off x="9235440" y="2971800"/>
            <a:ext cx="2523744" cy="1389888"/>
          </a:xfrm>
          <a:prstGeom prst="roundRect">
            <a:avLst/>
          </a:prstGeom>
          <a:solidFill>
            <a:srgbClr val="122B45"/>
          </a:solidFill>
          <a:ln w="12700">
            <a:solidFill>
              <a:srgbClr val="31506E"/>
            </a:solidFill>
          </a:ln>
        </p:spPr>
      </p:sp>
      <p:sp>
        <p:nvSpPr>
          <p:cNvPr id="20" name="Shape 20"/>
          <p:cNvSpPr/>
          <p:nvPr/>
        </p:nvSpPr>
        <p:spPr>
          <a:xfrm>
            <a:off x="9418320" y="3154680"/>
            <a:ext cx="173736" cy="173736"/>
          </a:xfrm>
          <a:prstGeom prst="roundRect">
            <a:avLst/>
          </a:prstGeom>
          <a:solidFill>
            <a:srgbClr val="6A4BC3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9710928" y="3081528"/>
            <a:ext cx="18288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100" b="1" i="0">
                <a:solidFill>
                  <a:srgbClr val="6A4BC3"/>
                </a:solidFill>
                <a:latin typeface="Aptos"/>
              </a:rPr>
              <a:t>MANAGE</a:t>
            </a:r>
            <a:endParaRPr lang="en-US" sz="1100"/>
          </a:p>
        </p:txBody>
      </p:sp>
      <p:sp>
        <p:nvSpPr>
          <p:cNvPr id="22" name="Text 22"/>
          <p:cNvSpPr txBox="1"/>
          <p:nvPr/>
        </p:nvSpPr>
        <p:spPr>
          <a:xfrm>
            <a:off x="9418320" y="3575304"/>
            <a:ext cx="2139696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36576" rIns="36576" tIns="36576" bIns="36576">
            <a:normAutofit/>
          </a:bodyPr>
          <a:lstStyle/>
          <a:p>
            <a:pPr algn="l"/>
            <a:r>
              <a:rPr lang="en-US" sz="1500" b="1" i="0">
                <a:solidFill>
                  <a:srgbClr val="FFFFFF"/>
                </a:solidFill>
                <a:latin typeface="Aptos"/>
              </a:rPr>
              <a:t>Roles &amp; administration</a:t>
            </a:r>
            <a:endParaRPr lang="en-US" sz="1500"/>
          </a:p>
        </p:txBody>
      </p:sp>
      <p:sp>
        <p:nvSpPr>
          <p:cNvPr id="23" name="Shape 23"/>
          <p:cNvSpPr/>
          <p:nvPr/>
        </p:nvSpPr>
        <p:spPr>
          <a:xfrm>
            <a:off x="786384" y="5029200"/>
            <a:ext cx="10927080" cy="14630"/>
          </a:xfrm>
          <a:prstGeom prst="rect">
            <a:avLst/>
          </a:prstGeom>
          <a:solidFill>
            <a:srgbClr val="31506E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804672" y="5330952"/>
            <a:ext cx="960120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1600" b="1" i="0">
                <a:solidFill>
                  <a:srgbClr val="FFFFFF"/>
                </a:solidFill>
                <a:latin typeface="Aptos"/>
              </a:rPr>
              <a:t>SAP AMS is a role-aware application for sharing operational knowledge and coordinating service work.</a:t>
            </a:r>
            <a:endParaRPr lang="en-US" sz="1600"/>
          </a:p>
        </p:txBody>
      </p:sp>
      <p:sp>
        <p:nvSpPr>
          <p:cNvPr id="25" name="Text 25"/>
          <p:cNvSpPr txBox="1"/>
          <p:nvPr/>
        </p:nvSpPr>
        <p:spPr>
          <a:xfrm>
            <a:off x="804672" y="6236208"/>
            <a:ext cx="731520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>
            <a:normAutofit/>
          </a:bodyPr>
          <a:lstStyle/>
          <a:p>
            <a:pPr algn="l"/>
            <a:r>
              <a:rPr lang="en-US" sz="900" b="0" i="0">
                <a:solidFill>
                  <a:srgbClr val="AFC4D8"/>
                </a:solidFill>
                <a:latin typeface="Aptos"/>
              </a:rPr>
              <a:t>Product overview ? Prepared from repository features ? October 2026</a:t>
            </a:r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P AMS">
  <a:themeElements>
    <a:clrScheme name="SAP AMS">
      <a:dk1>
        <a:srgbClr val="0A1929"/>
      </a:dk1>
      <a:lt1>
        <a:srgbClr val="FFFFFF"/>
      </a:lt1>
      <a:dk2>
        <a:srgbClr val="203247"/>
      </a:dk2>
      <a:lt2>
        <a:srgbClr val="F7F9FC"/>
      </a:lt2>
      <a:accent1>
        <a:srgbClr val="1565C0"/>
      </a:accent1>
      <a:accent2>
        <a:srgbClr val="42A5F5"/>
      </a:accent2>
      <a:accent3>
        <a:srgbClr val="2E7D32"/>
      </a:accent3>
      <a:accent4>
        <a:srgbClr val="E65100"/>
      </a:accent4>
      <a:accent5>
        <a:srgbClr val="6A4BC3"/>
      </a:accent5>
      <a:accent6>
        <a:srgbClr val="61758B"/>
      </a:accent6>
      <a:hlink>
        <a:srgbClr val="1565C0"/>
      </a:hlink>
      <a:folHlink>
        <a:srgbClr val="6A4BC3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Widescreen</PresentationFormat>
  <Slides>10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SAP AMS App Overview</dc:title>
  <dc:subject>General product overview</dc:subject>
  <dc:creator>OpenAI</dc:creator>
</cp:coreProperties>
</file>